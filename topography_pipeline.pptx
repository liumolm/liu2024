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4984f47-c19d-0ca6-4a25-184a65d8d1a6}">
          <p14:sldIdLst>
            <p14:sldId id="256"/>
          </p14:sldIdLst>
        </p14:section>
        <p14:section name="ID83 pipeline" id="{82ddcbad-b14e-3004-4724-98c2bddfe9ac}">
          <p14:sldIdLst>
            <p14:sldId id="257"/>
            <p14:sldId id="258"/>
          </p14:sldIdLst>
        </p14:section>
        <p14:section name="ID89 pipeline" id="{2a7665eb-092f-8f09-3b97-56eee3965a1e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Liu et al. 2026 · topography analysis · status 2026-10-16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Topography figures and tables: what runs and what is blocked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the r.04 matrices onward, everything reproduces exactly, for both ID83 and ID89. Only the raw inputs before r.04 are blocked.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83-type (ID83)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89-type (ID89) replication timing</a:t>
            </a:r>
            <a:endParaRPr lang="en-US" sz="1400" dirty="0"/>
          </a:p>
        </p:txBody>
      </p:sp>
      <p:sp>
        <p:nvSpPr>
          <p:cNvPr id="6" name="node_raw"/>
          <p:cNvSpPr txBox="1"/>
          <p:nvPr/>
        </p:nvSpPr>
        <p:spPr>
          <a:xfrm>
            <a:off x="457200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Raw ID83 inputs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files on Huang-lab server</a:t>
            </a:r>
            <a:endParaRPr lang="en-US" sz="1100" dirty="0"/>
          </a:p>
        </p:txBody>
      </p:sp>
      <p:sp>
        <p:nvSpPr>
          <p:cNvPr id="7" name="node_code"/>
          <p:cNvSpPr txBox="1"/>
          <p:nvPr/>
        </p:nvSpPr>
        <p:spPr>
          <a:xfrm>
            <a:off x="457200" y="2926080"/>
            <a:ext cx="19202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partial-credit and simulation code</a:t>
            </a:r>
            <a:endParaRPr lang="en-US" sz="1000" dirty="0"/>
          </a:p>
        </p:txBody>
      </p:sp>
      <p:sp>
        <p:nvSpPr>
          <p:cNvPr id="8" name="node_pre"/>
          <p:cNvSpPr txBox="1"/>
          <p:nvPr/>
        </p:nvSpPr>
        <p:spPr>
          <a:xfrm>
            <a:off x="2834640" y="19659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normalize.sh … r.03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scripts (slide 2)</a:t>
            </a:r>
            <a:endParaRPr lang="en-US" sz="1100" dirty="0"/>
          </a:p>
        </p:txBody>
      </p:sp>
      <p:sp>
        <p:nvSpPr>
          <p:cNvPr id="9" name="node_r04s"/>
          <p:cNvSpPr txBox="1"/>
          <p:nvPr/>
        </p:nvSpPr>
        <p:spPr>
          <a:xfrm>
            <a:off x="5029200" y="1965960"/>
            <a:ext cx="164592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r.04_create4Inf Matrix.R</a:t>
            </a:r>
            <a:endParaRPr lang="en-US" sz="1000" dirty="0"/>
          </a:p>
        </p:txBody>
      </p:sp>
      <p:sp>
        <p:nvSpPr>
          <p:cNvPr id="10" name="node_m04"/>
          <p:cNvSpPr txBox="1"/>
          <p:nvPr/>
        </p:nvSpPr>
        <p:spPr>
          <a:xfrm>
            <a:off x="704088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r.04 matrices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DNA.region, repli.strand, trans.strand, rtGroup</a:t>
            </a:r>
            <a:endParaRPr lang="en-US" sz="1100" dirty="0"/>
          </a:p>
        </p:txBody>
      </p:sp>
      <p:sp>
        <p:nvSpPr>
          <p:cNvPr id="11" name="node_post"/>
          <p:cNvSpPr txBox="1"/>
          <p:nvPr/>
        </p:nvSpPr>
        <p:spPr>
          <a:xfrm>
            <a:off x="7040880" y="329184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r.05, r.06, r.09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build scripts (slide 3)</a:t>
            </a:r>
            <a:endParaRPr lang="en-US" sz="1100" dirty="0"/>
          </a:p>
        </p:txBody>
      </p:sp>
      <p:sp>
        <p:nvSpPr>
          <p:cNvPr id="12" name="node_o1"/>
          <p:cNvSpPr txBox="1"/>
          <p:nvPr/>
        </p:nvSpPr>
        <p:spPr>
          <a:xfrm>
            <a:off x="9509760" y="137160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S12</a:t>
            </a:r>
            <a:endParaRPr lang="en-US" sz="1100" dirty="0"/>
          </a:p>
        </p:txBody>
      </p:sp>
      <p:sp>
        <p:nvSpPr>
          <p:cNvPr id="13" name="node_o2"/>
          <p:cNvSpPr txBox="1"/>
          <p:nvPr/>
        </p:nvSpPr>
        <p:spPr>
          <a:xfrm>
            <a:off x="9509760" y="201168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S13</a:t>
            </a:r>
            <a:endParaRPr lang="en-US" sz="1100" dirty="0"/>
          </a:p>
        </p:txBody>
      </p:sp>
      <p:sp>
        <p:nvSpPr>
          <p:cNvPr id="14" name="node_o3"/>
          <p:cNvSpPr txBox="1"/>
          <p:nvPr/>
        </p:nvSpPr>
        <p:spPr>
          <a:xfrm>
            <a:off x="9509760" y="265176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S3, Figure S4</a:t>
            </a:r>
            <a:endParaRPr lang="en-US" sz="1100" dirty="0"/>
          </a:p>
        </p:txBody>
      </p:sp>
      <p:sp>
        <p:nvSpPr>
          <p:cNvPr id="15" name="node_o4"/>
          <p:cNvSpPr txBox="1"/>
          <p:nvPr/>
        </p:nvSpPr>
        <p:spPr>
          <a:xfrm>
            <a:off x="9509760" y="329184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5A–D</a:t>
            </a:r>
            <a:endParaRPr lang="en-US" sz="1100" dirty="0"/>
          </a:p>
        </p:txBody>
      </p:sp>
      <p:sp>
        <p:nvSpPr>
          <p:cNvPr id="16" name="node_raw89"/>
          <p:cNvSpPr txBox="1"/>
          <p:nvPr/>
        </p:nvSpPr>
        <p:spPr>
          <a:xfrm>
            <a:off x="457200" y="466344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all.indel.ID89. partial.credit.txt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</a:t>
            </a:r>
            <a:endParaRPr lang="en-US" sz="1000" dirty="0"/>
          </a:p>
        </p:txBody>
      </p:sp>
      <p:sp>
        <p:nvSpPr>
          <p:cNvPr id="17" name="node_pre89"/>
          <p:cNvSpPr txBox="1"/>
          <p:nvPr/>
        </p:nvSpPr>
        <p:spPr>
          <a:xfrm>
            <a:off x="2834640" y="47091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ID89 r.01 … r.04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 (slide 4)</a:t>
            </a:r>
            <a:endParaRPr lang="en-US" sz="1000" dirty="0"/>
          </a:p>
        </p:txBody>
      </p:sp>
      <p:sp>
        <p:nvSpPr>
          <p:cNvPr id="18" name="node_m89"/>
          <p:cNvSpPr txBox="1"/>
          <p:nvPr/>
        </p:nvSpPr>
        <p:spPr>
          <a:xfrm>
            <a:off x="5029200" y="466344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r.04 matrix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rtGroup, from Mini</a:t>
            </a:r>
            <a:endParaRPr lang="en-US" sz="1000" dirty="0"/>
          </a:p>
        </p:txBody>
      </p:sp>
      <p:sp>
        <p:nvSpPr>
          <p:cNvPr id="19" name="node_b89"/>
          <p:cNvSpPr txBox="1"/>
          <p:nvPr/>
        </p:nvSpPr>
        <p:spPr>
          <a:xfrm>
            <a:off x="7040880" y="47091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r.09_barplot.R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build_sup_table_s14.R</a:t>
            </a:r>
            <a:endParaRPr lang="en-US" sz="1000" dirty="0"/>
          </a:p>
        </p:txBody>
      </p:sp>
      <p:sp>
        <p:nvSpPr>
          <p:cNvPr id="20" name="node_o89"/>
          <p:cNvSpPr txBox="1"/>
          <p:nvPr/>
        </p:nvSpPr>
        <p:spPr>
          <a:xfrm>
            <a:off x="9509760" y="4800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S14</a:t>
            </a:r>
            <a:endParaRPr lang="en-US" sz="1100" dirty="0"/>
          </a:p>
        </p:txBody>
      </p:sp>
      <p:sp>
        <p:nvSpPr>
          <p:cNvPr id="21" name="edge_raw_pre"/>
          <p:cNvSpPr/>
          <p:nvPr/>
        </p:nvSpPr>
        <p:spPr>
          <a:xfrm>
            <a:off x="2377440" y="2194560"/>
            <a:ext cx="457200" cy="1371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edge_code_raw"/>
          <p:cNvSpPr/>
          <p:nvPr/>
        </p:nvSpPr>
        <p:spPr>
          <a:xfrm flipV="1">
            <a:off x="1417320" y="2651760"/>
            <a:ext cx="0" cy="27432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3" name="edge_pre_r04s"/>
          <p:cNvSpPr/>
          <p:nvPr/>
        </p:nvSpPr>
        <p:spPr>
          <a:xfrm>
            <a:off x="4663440" y="2331720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edge_r04s_m04"/>
          <p:cNvSpPr/>
          <p:nvPr/>
        </p:nvSpPr>
        <p:spPr>
          <a:xfrm>
            <a:off x="6675120" y="2331720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edge_m04_post"/>
          <p:cNvSpPr/>
          <p:nvPr/>
        </p:nvSpPr>
        <p:spPr>
          <a:xfrm>
            <a:off x="7955280" y="2926080"/>
            <a:ext cx="0" cy="3657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edge_post_o1"/>
          <p:cNvSpPr/>
          <p:nvPr/>
        </p:nvSpPr>
        <p:spPr>
          <a:xfrm flipV="1">
            <a:off x="8869680" y="1623060"/>
            <a:ext cx="640080" cy="20345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edge_post_o2"/>
          <p:cNvSpPr/>
          <p:nvPr/>
        </p:nvSpPr>
        <p:spPr>
          <a:xfrm flipV="1">
            <a:off x="8869680" y="2263140"/>
            <a:ext cx="640080" cy="13944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edge_post_o3"/>
          <p:cNvSpPr/>
          <p:nvPr/>
        </p:nvSpPr>
        <p:spPr>
          <a:xfrm flipV="1">
            <a:off x="8869680" y="2903220"/>
            <a:ext cx="640080" cy="7543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edge_post_o4"/>
          <p:cNvSpPr/>
          <p:nvPr/>
        </p:nvSpPr>
        <p:spPr>
          <a:xfrm flipV="1">
            <a:off x="8869680" y="3543300"/>
            <a:ext cx="640080" cy="1143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edge_raw89_pre89"/>
          <p:cNvSpPr/>
          <p:nvPr/>
        </p:nvSpPr>
        <p:spPr>
          <a:xfrm>
            <a:off x="2377440" y="5074920"/>
            <a:ext cx="4572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edge_pre89_m89"/>
          <p:cNvSpPr/>
          <p:nvPr/>
        </p:nvSpPr>
        <p:spPr>
          <a:xfrm flipV="1">
            <a:off x="4663440" y="5074920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edge_m89_b89"/>
          <p:cNvSpPr/>
          <p:nvPr/>
        </p:nvSpPr>
        <p:spPr>
          <a:xfrm>
            <a:off x="6675120" y="5074920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edge_b89_o89"/>
          <p:cNvSpPr/>
          <p:nvPr/>
        </p:nvSpPr>
        <p:spPr>
          <a:xfrm flipV="1">
            <a:off x="8869680" y="5074920"/>
            <a:ext cx="64008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834640" y="5532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Cannot rerun: input missing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834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Cannot rerun: inputs missing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50976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Reran 2026-10-15/16: identical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50976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Reran 2026-10-16: identical</a:t>
            </a:r>
            <a:endParaRPr lang="en-US" sz="1100" dirty="0"/>
          </a:p>
        </p:txBody>
      </p:sp>
      <p:sp>
        <p:nvSpPr>
          <p:cNvPr id="38" name="legend_script"/>
          <p:cNvSpPr/>
          <p:nvPr/>
        </p:nvSpPr>
        <p:spPr>
          <a:xfrm>
            <a:off x="457200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Script</a:t>
            </a:r>
            <a:endParaRPr lang="en-US" sz="1000" dirty="0"/>
          </a:p>
        </p:txBody>
      </p:sp>
      <p:sp>
        <p:nvSpPr>
          <p:cNvPr id="40" name="legend_code_missing"/>
          <p:cNvSpPr/>
          <p:nvPr/>
        </p:nvSpPr>
        <p:spPr>
          <a:xfrm>
            <a:off x="2084832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243230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Code missing</a:t>
            </a:r>
            <a:endParaRPr lang="en-US" sz="1000" dirty="0"/>
          </a:p>
        </p:txBody>
      </p:sp>
      <p:sp>
        <p:nvSpPr>
          <p:cNvPr id="42" name="legend_data_ok"/>
          <p:cNvSpPr/>
          <p:nvPr/>
        </p:nvSpPr>
        <p:spPr>
          <a:xfrm>
            <a:off x="3712464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59936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in repo</a:t>
            </a:r>
            <a:endParaRPr lang="en-US" sz="1000" dirty="0"/>
          </a:p>
        </p:txBody>
      </p:sp>
      <p:sp>
        <p:nvSpPr>
          <p:cNvPr id="44" name="legend_data_partial"/>
          <p:cNvSpPr/>
          <p:nvPr/>
        </p:nvSpPr>
        <p:spPr>
          <a:xfrm>
            <a:off x="5340096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87568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46" name="legend_data_missing"/>
          <p:cNvSpPr/>
          <p:nvPr/>
        </p:nvSpPr>
        <p:spPr>
          <a:xfrm>
            <a:off x="6967728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missing</a:t>
            </a:r>
            <a:endParaRPr lang="en-US" sz="1000" dirty="0"/>
          </a:p>
        </p:txBody>
      </p:sp>
      <p:sp>
        <p:nvSpPr>
          <p:cNvPr id="48" name="legend_out_ok"/>
          <p:cNvSpPr/>
          <p:nvPr/>
        </p:nvSpPr>
        <p:spPr>
          <a:xfrm>
            <a:off x="8595360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4283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Reproduced output</a:t>
            </a:r>
            <a:endParaRPr lang="en-US" sz="1000" dirty="0"/>
          </a:p>
        </p:txBody>
      </p:sp>
      <p:sp>
        <p:nvSpPr>
          <p:cNvPr id="50" name="legend_out_blocked"/>
          <p:cNvSpPr/>
          <p:nvPr/>
        </p:nvSpPr>
        <p:spPr>
          <a:xfrm>
            <a:off x="10222992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1057046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Blocked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ID83 upstream: raw inputs to the r.04 matrices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scripts are in ID83_topography_analysis_code/. The inputs sit under /public/data/Topography_analysis*/ and are not in either repo.</a:t>
            </a:r>
            <a:endParaRPr lang="en-US" sz="1400" dirty="0"/>
          </a:p>
        </p:txBody>
      </p:sp>
      <p:sp>
        <p:nvSpPr>
          <p:cNvPr id="4" name="node_pcCode"/>
          <p:cNvSpPr txBox="1"/>
          <p:nvPr/>
        </p:nvSpPr>
        <p:spPr>
          <a:xfrm>
            <a:off x="365760" y="1417320"/>
            <a:ext cx="146304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that made partial credit</a:t>
            </a:r>
            <a:endParaRPr lang="en-US" sz="1000" dirty="0"/>
          </a:p>
        </p:txBody>
      </p:sp>
      <p:sp>
        <p:nvSpPr>
          <p:cNvPr id="5" name="node_simCode"/>
          <p:cNvSpPr txBox="1"/>
          <p:nvPr/>
        </p:nvSpPr>
        <p:spPr>
          <a:xfrm>
            <a:off x="365760" y="4343400"/>
            <a:ext cx="146304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SigProfiler Simulator run</a:t>
            </a:r>
            <a:endParaRPr lang="en-US" sz="1000" dirty="0"/>
          </a:p>
        </p:txBody>
      </p:sp>
      <p:sp>
        <p:nvSpPr>
          <p:cNvPr id="6" name="node_pc"/>
          <p:cNvSpPr txBox="1"/>
          <p:nvPr/>
        </p:nvSpPr>
        <p:spPr>
          <a:xfrm>
            <a:off x="2057400" y="1417320"/>
            <a:ext cx="21488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all.indel.ID83. partial.credit.txt</a:t>
            </a:r>
            <a:endParaRPr lang="en-US" sz="1000" dirty="0"/>
          </a:p>
        </p:txBody>
      </p:sp>
      <p:sp>
        <p:nvSpPr>
          <p:cNvPr id="7" name="node_terr"/>
          <p:cNvSpPr txBox="1"/>
          <p:nvPr/>
        </p:nvSpPr>
        <p:spPr>
          <a:xfrm>
            <a:off x="2057400" y="2148840"/>
            <a:ext cx="21488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per_base_territories_20kb.mat</a:t>
            </a:r>
            <a:endParaRPr lang="en-US" sz="1000" dirty="0"/>
          </a:p>
        </p:txBody>
      </p:sp>
      <p:sp>
        <p:nvSpPr>
          <p:cNvPr id="8" name="node_strand"/>
          <p:cNvSpPr txBox="1"/>
          <p:nvPr/>
        </p:nvSpPr>
        <p:spPr>
          <a:xfrm>
            <a:off x="2057400" y="2880360"/>
            <a:ext cx="21488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single.indel.aggregate. strand.added.matrix.txt</a:t>
            </a:r>
            <a:endParaRPr lang="en-US" sz="1000" dirty="0"/>
          </a:p>
        </p:txBody>
      </p:sp>
      <p:sp>
        <p:nvSpPr>
          <p:cNvPr id="9" name="node_rdata"/>
          <p:cNvSpPr txBox="1"/>
          <p:nvPr/>
        </p:nvSpPr>
        <p:spPr>
          <a:xfrm>
            <a:off x="2057400" y="3611880"/>
            <a:ext cx="21488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all.annotate.ID.vcfs.RData</a:t>
            </a:r>
            <a:endParaRPr lang="en-US" sz="1000" dirty="0"/>
          </a:p>
        </p:txBody>
      </p:sp>
      <p:sp>
        <p:nvSpPr>
          <p:cNvPr id="10" name="node_sim"/>
          <p:cNvSpPr txBox="1"/>
          <p:nvPr/>
        </p:nvSpPr>
        <p:spPr>
          <a:xfrm>
            <a:off x="2057400" y="4343400"/>
            <a:ext cx="214884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all_simulated_with_ annotation.txt</a:t>
            </a:r>
            <a:endParaRPr lang="en-US" sz="1000" dirty="0"/>
          </a:p>
        </p:txBody>
      </p:sp>
      <p:sp>
        <p:nvSpPr>
          <p:cNvPr id="11" name="node_encode"/>
          <p:cNvSpPr txBox="1"/>
          <p:nvPr/>
        </p:nvSpPr>
        <p:spPr>
          <a:xfrm>
            <a:off x="6400800" y="4343400"/>
            <a:ext cx="18745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ENCODE/repli_strand_ info_new.bed</a:t>
            </a:r>
            <a:endParaRPr lang="en-US" sz="1000" dirty="0"/>
          </a:p>
        </p:txBody>
      </p:sp>
      <p:sp>
        <p:nvSpPr>
          <p:cNvPr id="12" name="node_meta"/>
          <p:cNvSpPr txBox="1"/>
          <p:nvPr/>
        </p:nvSpPr>
        <p:spPr>
          <a:xfrm>
            <a:off x="8503920" y="49377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all.meta.0528.rds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ID89 folder</a:t>
            </a:r>
            <a:endParaRPr lang="en-US" sz="1000" dirty="0"/>
          </a:p>
        </p:txBody>
      </p:sp>
      <p:sp>
        <p:nvSpPr>
          <p:cNvPr id="13" name="node_norm"/>
          <p:cNvSpPr txBox="1"/>
          <p:nvPr/>
        </p:nvSpPr>
        <p:spPr>
          <a:xfrm>
            <a:off x="4572000" y="141732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normalize.sh</a:t>
            </a:r>
            <a:endParaRPr lang="en-US" sz="1000" dirty="0"/>
          </a:p>
        </p:txBody>
      </p:sp>
      <p:sp>
        <p:nvSpPr>
          <p:cNvPr id="14" name="node_r01"/>
          <p:cNvSpPr txBox="1"/>
          <p:nvPr/>
        </p:nvSpPr>
        <p:spPr>
          <a:xfrm>
            <a:off x="4572000" y="251460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r.01_createBed.R</a:t>
            </a:r>
            <a:endParaRPr lang="en-US" sz="1000" dirty="0"/>
          </a:p>
        </p:txBody>
      </p:sp>
      <p:sp>
        <p:nvSpPr>
          <p:cNvPr id="15" name="node_gm"/>
          <p:cNvSpPr txBox="1"/>
          <p:nvPr/>
        </p:nvSpPr>
        <p:spPr>
          <a:xfrm>
            <a:off x="4572000" y="342900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generate_partial credit_match_file.R</a:t>
            </a:r>
            <a:endParaRPr lang="en-US" sz="900" dirty="0"/>
          </a:p>
        </p:txBody>
      </p:sp>
      <p:sp>
        <p:nvSpPr>
          <p:cNvPr id="16" name="node_apc"/>
          <p:cNvSpPr txBox="1"/>
          <p:nvPr/>
        </p:nvSpPr>
        <p:spPr>
          <a:xfrm>
            <a:off x="4572000" y="434340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add_partial_credit.R</a:t>
            </a:r>
            <a:endParaRPr lang="en-US" sz="1000" dirty="0"/>
          </a:p>
        </p:txBody>
      </p:sp>
      <p:sp>
        <p:nvSpPr>
          <p:cNvPr id="17" name="node_r02"/>
          <p:cNvSpPr txBox="1"/>
          <p:nvPr/>
        </p:nvSpPr>
        <p:spPr>
          <a:xfrm>
            <a:off x="6537960" y="297180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r.02.intersect_ no_loop.sh</a:t>
            </a:r>
            <a:endParaRPr lang="en-US" sz="1000" dirty="0"/>
          </a:p>
        </p:txBody>
      </p:sp>
      <p:sp>
        <p:nvSpPr>
          <p:cNvPr id="18" name="node_r03"/>
          <p:cNvSpPr txBox="1"/>
          <p:nvPr/>
        </p:nvSpPr>
        <p:spPr>
          <a:xfrm>
            <a:off x="8503920" y="2377440"/>
            <a:ext cx="146304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r.03_mergeInf.R</a:t>
            </a:r>
            <a:endParaRPr lang="en-US" sz="1000" dirty="0"/>
          </a:p>
        </p:txBody>
      </p:sp>
      <p:sp>
        <p:nvSpPr>
          <p:cNvPr id="19" name="node_r03s"/>
          <p:cNvSpPr txBox="1"/>
          <p:nvPr/>
        </p:nvSpPr>
        <p:spPr>
          <a:xfrm>
            <a:off x="8503920" y="3657600"/>
            <a:ext cx="146304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r.03_mergeInf_ simulation.R</a:t>
            </a:r>
            <a:endParaRPr lang="en-US" sz="1000" dirty="0"/>
          </a:p>
        </p:txBody>
      </p:sp>
      <p:sp>
        <p:nvSpPr>
          <p:cNvPr id="20" name="node_r04"/>
          <p:cNvSpPr txBox="1"/>
          <p:nvPr/>
        </p:nvSpPr>
        <p:spPr>
          <a:xfrm>
            <a:off x="10241280" y="1463040"/>
            <a:ext cx="155448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r.04_create4Inf Matrix.R</a:t>
            </a:r>
            <a:endParaRPr lang="en-US" sz="1000" dirty="0"/>
          </a:p>
        </p:txBody>
      </p:sp>
      <p:sp>
        <p:nvSpPr>
          <p:cNvPr id="21" name="node_m04"/>
          <p:cNvSpPr txBox="1"/>
          <p:nvPr/>
        </p:nvSpPr>
        <p:spPr>
          <a:xfrm>
            <a:off x="10241280" y="246888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04_create4InfMatrix/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DNA.region, repli.strand, trans.strand, rtGroup (50% cutoff). Feeds slide 3.</a:t>
            </a:r>
            <a:endParaRPr lang="en-US" sz="1000" dirty="0"/>
          </a:p>
        </p:txBody>
      </p:sp>
      <p:sp>
        <p:nvSpPr>
          <p:cNvPr id="22" name="edge_pcCode_pc"/>
          <p:cNvSpPr/>
          <p:nvPr/>
        </p:nvSpPr>
        <p:spPr>
          <a:xfrm>
            <a:off x="1828800" y="1700784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3" name="edge_simCode_sim"/>
          <p:cNvSpPr/>
          <p:nvPr/>
        </p:nvSpPr>
        <p:spPr>
          <a:xfrm>
            <a:off x="1828800" y="4626864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edge_pc_norm"/>
          <p:cNvSpPr/>
          <p:nvPr/>
        </p:nvSpPr>
        <p:spPr>
          <a:xfrm>
            <a:off x="4206240" y="1700784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edge_norm_r01"/>
          <p:cNvSpPr/>
          <p:nvPr/>
        </p:nvSpPr>
        <p:spPr>
          <a:xfrm>
            <a:off x="5372100" y="1984248"/>
            <a:ext cx="0" cy="53035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edge_terr_r01"/>
          <p:cNvSpPr/>
          <p:nvPr/>
        </p:nvSpPr>
        <p:spPr>
          <a:xfrm>
            <a:off x="4206240" y="2432304"/>
            <a:ext cx="365760" cy="3657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edge_strand_r01"/>
          <p:cNvSpPr/>
          <p:nvPr/>
        </p:nvSpPr>
        <p:spPr>
          <a:xfrm flipV="1">
            <a:off x="4206240" y="2798064"/>
            <a:ext cx="365760" cy="3657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edge_rdata_r01"/>
          <p:cNvSpPr/>
          <p:nvPr/>
        </p:nvSpPr>
        <p:spPr>
          <a:xfrm flipV="1">
            <a:off x="4206240" y="2798064"/>
            <a:ext cx="365760" cy="10972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edge_r01_gm"/>
          <p:cNvSpPr/>
          <p:nvPr/>
        </p:nvSpPr>
        <p:spPr>
          <a:xfrm>
            <a:off x="5372100" y="3081528"/>
            <a:ext cx="0" cy="34747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edge_gm_apc"/>
          <p:cNvSpPr/>
          <p:nvPr/>
        </p:nvSpPr>
        <p:spPr>
          <a:xfrm>
            <a:off x="5372100" y="3995928"/>
            <a:ext cx="0" cy="34747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edge_sim_apc"/>
          <p:cNvSpPr/>
          <p:nvPr/>
        </p:nvSpPr>
        <p:spPr>
          <a:xfrm>
            <a:off x="4206240" y="4626864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edge_r01_r02"/>
          <p:cNvSpPr/>
          <p:nvPr/>
        </p:nvSpPr>
        <p:spPr>
          <a:xfrm>
            <a:off x="6172200" y="2798064"/>
            <a:ext cx="36576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edge_apc_r02"/>
          <p:cNvSpPr/>
          <p:nvPr/>
        </p:nvSpPr>
        <p:spPr>
          <a:xfrm flipV="1">
            <a:off x="6172200" y="3255264"/>
            <a:ext cx="365760" cy="1371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edge_encode_r02"/>
          <p:cNvSpPr/>
          <p:nvPr/>
        </p:nvSpPr>
        <p:spPr>
          <a:xfrm flipV="1">
            <a:off x="7338060" y="3538728"/>
            <a:ext cx="0" cy="80467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edge_r02_r03"/>
          <p:cNvSpPr/>
          <p:nvPr/>
        </p:nvSpPr>
        <p:spPr>
          <a:xfrm flipV="1">
            <a:off x="8138160" y="2660904"/>
            <a:ext cx="36576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edge_r02_r03s"/>
          <p:cNvSpPr/>
          <p:nvPr/>
        </p:nvSpPr>
        <p:spPr>
          <a:xfrm>
            <a:off x="8138160" y="3255264"/>
            <a:ext cx="365760" cy="6858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edge_meta_r03s"/>
          <p:cNvSpPr/>
          <p:nvPr/>
        </p:nvSpPr>
        <p:spPr>
          <a:xfrm flipV="1">
            <a:off x="9235440" y="4224528"/>
            <a:ext cx="0" cy="71323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edge_r03_r04"/>
          <p:cNvSpPr/>
          <p:nvPr/>
        </p:nvSpPr>
        <p:spPr>
          <a:xfrm flipV="1">
            <a:off x="9966960" y="1746504"/>
            <a:ext cx="274320" cy="9144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edge_r03s_r04"/>
          <p:cNvSpPr/>
          <p:nvPr/>
        </p:nvSpPr>
        <p:spPr>
          <a:xfrm flipV="1">
            <a:off x="9966960" y="1746504"/>
            <a:ext cx="274320" cy="21945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edge_r04_m04"/>
          <p:cNvSpPr/>
          <p:nvPr/>
        </p:nvSpPr>
        <p:spPr>
          <a:xfrm>
            <a:off x="11018520" y="2029968"/>
            <a:ext cx="0" cy="43891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10058400" y="4114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Both r.03 scripts read all.meta.0528.rds. r.03_mergeInf.R also reads the strand reference file.</a:t>
            </a:r>
            <a:endParaRPr lang="en-US" sz="1100" dirty="0"/>
          </a:p>
        </p:txBody>
      </p:sp>
      <p:sp>
        <p:nvSpPr>
          <p:cNvPr id="42" name="legend_script"/>
          <p:cNvSpPr/>
          <p:nvPr/>
        </p:nvSpPr>
        <p:spPr>
          <a:xfrm>
            <a:off x="457200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Script</a:t>
            </a:r>
            <a:endParaRPr lang="en-US" sz="1000" dirty="0"/>
          </a:p>
        </p:txBody>
      </p:sp>
      <p:sp>
        <p:nvSpPr>
          <p:cNvPr id="44" name="legend_code_missing"/>
          <p:cNvSpPr/>
          <p:nvPr/>
        </p:nvSpPr>
        <p:spPr>
          <a:xfrm>
            <a:off x="2084832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243230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Code missing</a:t>
            </a:r>
            <a:endParaRPr lang="en-US" sz="1000" dirty="0"/>
          </a:p>
        </p:txBody>
      </p:sp>
      <p:sp>
        <p:nvSpPr>
          <p:cNvPr id="46" name="legend_data_ok"/>
          <p:cNvSpPr/>
          <p:nvPr/>
        </p:nvSpPr>
        <p:spPr>
          <a:xfrm>
            <a:off x="3712464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59936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in repo</a:t>
            </a:r>
            <a:endParaRPr lang="en-US" sz="1000" dirty="0"/>
          </a:p>
        </p:txBody>
      </p:sp>
      <p:sp>
        <p:nvSpPr>
          <p:cNvPr id="48" name="legend_data_partial"/>
          <p:cNvSpPr/>
          <p:nvPr/>
        </p:nvSpPr>
        <p:spPr>
          <a:xfrm>
            <a:off x="5340096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87568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50" name="legend_data_missing"/>
          <p:cNvSpPr/>
          <p:nvPr/>
        </p:nvSpPr>
        <p:spPr>
          <a:xfrm>
            <a:off x="6967728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missing</a:t>
            </a:r>
            <a:endParaRPr lang="en-US" sz="1000" dirty="0"/>
          </a:p>
        </p:txBody>
      </p:sp>
      <p:sp>
        <p:nvSpPr>
          <p:cNvPr id="52" name="legend_out_ok"/>
          <p:cNvSpPr/>
          <p:nvPr/>
        </p:nvSpPr>
        <p:spPr>
          <a:xfrm>
            <a:off x="8595360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94283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Reproduced output</a:t>
            </a:r>
            <a:endParaRPr lang="en-US" sz="1000" dirty="0"/>
          </a:p>
        </p:txBody>
      </p:sp>
      <p:sp>
        <p:nvSpPr>
          <p:cNvPr id="54" name="legend_out_blocked"/>
          <p:cNvSpPr/>
          <p:nvPr/>
        </p:nvSpPr>
        <p:spPr>
          <a:xfrm>
            <a:off x="10222992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1057046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Blocked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ID83 downstream: r.04 matrices to figures and tables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step here was rerun from the repo on 2026-10-15/16. Outputs are identical to the checked-in copies and the paper's tables.</a:t>
            </a:r>
            <a:endParaRPr lang="en-US" sz="1400" dirty="0"/>
          </a:p>
        </p:txBody>
      </p:sp>
      <p:sp>
        <p:nvSpPr>
          <p:cNvPr id="4" name="node_m3"/>
          <p:cNvSpPr txBox="1"/>
          <p:nvPr/>
        </p:nvSpPr>
        <p:spPr>
          <a:xfrm>
            <a:off x="365760" y="1645920"/>
            <a:ext cx="16916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04_create4InfMatrix/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DNA.region, repli.strand, trans.strand</a:t>
            </a:r>
            <a:endParaRPr lang="en-US" sz="1000" dirty="0"/>
          </a:p>
        </p:txBody>
      </p:sp>
      <p:sp>
        <p:nvSpPr>
          <p:cNvPr id="5" name="node_mrt"/>
          <p:cNvSpPr txBox="1"/>
          <p:nvPr/>
        </p:nvSpPr>
        <p:spPr>
          <a:xfrm>
            <a:off x="365760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04_create4InfMatrix/ rtGroup/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Mini, 2026-10-16</a:t>
            </a:r>
            <a:endParaRPr lang="en-US" sz="1000" dirty="0"/>
          </a:p>
        </p:txBody>
      </p:sp>
      <p:sp>
        <p:nvSpPr>
          <p:cNvPr id="6" name="node_r05"/>
          <p:cNvSpPr txBox="1"/>
          <p:nvPr/>
        </p:nvSpPr>
        <p:spPr>
          <a:xfrm>
            <a:off x="2331720" y="141732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r.05_FisherTest.R</a:t>
            </a:r>
            <a:endParaRPr lang="en-US" sz="1000" dirty="0"/>
          </a:p>
        </p:txBody>
      </p:sp>
      <p:sp>
        <p:nvSpPr>
          <p:cNvPr id="7" name="node_r06"/>
          <p:cNvSpPr txBox="1"/>
          <p:nvPr/>
        </p:nvSpPr>
        <p:spPr>
          <a:xfrm>
            <a:off x="2331720" y="278892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r.06_comupte OddsRatio.R</a:t>
            </a:r>
            <a:endParaRPr lang="en-US" sz="1000" dirty="0"/>
          </a:p>
        </p:txBody>
      </p:sp>
      <p:sp>
        <p:nvSpPr>
          <p:cNvPr id="8" name="node_r09"/>
          <p:cNvSpPr txBox="1"/>
          <p:nvPr/>
        </p:nvSpPr>
        <p:spPr>
          <a:xfrm>
            <a:off x="2331720" y="4709160"/>
            <a:ext cx="160020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r.09_barplot.R</a:t>
            </a:r>
            <a:endParaRPr lang="en-US" sz="1000" dirty="0"/>
          </a:p>
        </p:txBody>
      </p:sp>
      <p:sp>
        <p:nvSpPr>
          <p:cNvPr id="9" name="node_f05"/>
          <p:cNvSpPr txBox="1"/>
          <p:nvPr/>
        </p:nvSpPr>
        <p:spPr>
          <a:xfrm>
            <a:off x="4206240" y="1417320"/>
            <a:ext cx="16916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05_FisherTest/ (3 xlsx)</a:t>
            </a:r>
            <a:endParaRPr lang="en-US" sz="1000" dirty="0"/>
          </a:p>
        </p:txBody>
      </p:sp>
      <p:sp>
        <p:nvSpPr>
          <p:cNvPr id="10" name="node_f06"/>
          <p:cNvSpPr txBox="1"/>
          <p:nvPr/>
        </p:nvSpPr>
        <p:spPr>
          <a:xfrm>
            <a:off x="4206240" y="2788920"/>
            <a:ext cx="16916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06_computeOddsRatio/ (9 xlsx)</a:t>
            </a:r>
            <a:endParaRPr lang="en-US" sz="1000" dirty="0"/>
          </a:p>
        </p:txBody>
      </p:sp>
      <p:sp>
        <p:nvSpPr>
          <p:cNvPr id="11" name="node_f09a"/>
          <p:cNvSpPr txBox="1"/>
          <p:nvPr/>
        </p:nvSpPr>
        <p:spPr>
          <a:xfrm>
            <a:off x="4206240" y="4343400"/>
            <a:ext cx="16916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09_barplot_data.xlsx</a:t>
            </a:r>
            <a:endParaRPr lang="en-US" sz="1000" dirty="0"/>
          </a:p>
        </p:txBody>
      </p:sp>
      <p:sp>
        <p:nvSpPr>
          <p:cNvPr id="12" name="node_f09b"/>
          <p:cNvSpPr txBox="1"/>
          <p:nvPr/>
        </p:nvSpPr>
        <p:spPr>
          <a:xfrm>
            <a:off x="4206240" y="5120640"/>
            <a:ext cx="16916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09_all_lm_trend.xlsx</a:t>
            </a:r>
            <a:endParaRPr lang="en-US" sz="1000" dirty="0"/>
          </a:p>
        </p:txBody>
      </p:sp>
      <p:sp>
        <p:nvSpPr>
          <p:cNvPr id="13" name="node_bs12"/>
          <p:cNvSpPr txBox="1"/>
          <p:nvPr/>
        </p:nvSpPr>
        <p:spPr>
          <a:xfrm>
            <a:off x="6217920" y="1188720"/>
            <a:ext cx="173736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 table_s12.R</a:t>
            </a:r>
            <a:endParaRPr lang="en-US" sz="1000" dirty="0"/>
          </a:p>
        </p:txBody>
      </p:sp>
      <p:sp>
        <p:nvSpPr>
          <p:cNvPr id="14" name="node_r08"/>
          <p:cNvSpPr txBox="1"/>
          <p:nvPr/>
        </p:nvSpPr>
        <p:spPr>
          <a:xfrm>
            <a:off x="6217920" y="2011680"/>
            <a:ext cx="173736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build_fig_s3/ r.08_bubbleplot.R</a:t>
            </a:r>
            <a:endParaRPr lang="en-US" sz="1000" dirty="0"/>
          </a:p>
        </p:txBody>
      </p:sp>
      <p:sp>
        <p:nvSpPr>
          <p:cNvPr id="15" name="node_aat"/>
          <p:cNvSpPr txBox="1"/>
          <p:nvPr/>
        </p:nvSpPr>
        <p:spPr>
          <a:xfrm>
            <a:off x="6217920" y="2834640"/>
            <a:ext cx="173736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build_fig5/ assign_asymmetry_type.R</a:t>
            </a:r>
            <a:endParaRPr lang="en-US" sz="900" dirty="0"/>
          </a:p>
        </p:txBody>
      </p:sp>
      <p:sp>
        <p:nvSpPr>
          <p:cNvPr id="16" name="node_bs13"/>
          <p:cNvSpPr txBox="1"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 table_s13.R</a:t>
            </a:r>
            <a:endParaRPr lang="en-US" sz="1000" dirty="0"/>
          </a:p>
        </p:txBody>
      </p:sp>
      <p:sp>
        <p:nvSpPr>
          <p:cNvPr id="17" name="node_r09f"/>
          <p:cNvSpPr txBox="1"/>
          <p:nvPr/>
        </p:nvSpPr>
        <p:spPr>
          <a:xfrm>
            <a:off x="6217920" y="5532120"/>
            <a:ext cx="173736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build_fig_s4/ r.09_barplot_final.R</a:t>
            </a:r>
            <a:endParaRPr lang="en-US" sz="900" dirty="0"/>
          </a:p>
        </p:txBody>
      </p:sp>
      <p:sp>
        <p:nvSpPr>
          <p:cNvPr id="18" name="node_cp"/>
          <p:cNvSpPr txBox="1"/>
          <p:nvPr/>
        </p:nvSpPr>
        <p:spPr>
          <a:xfrm>
            <a:off x="8229600" y="2834640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*.cancer_proportion .xlsx</a:t>
            </a:r>
            <a:endParaRPr lang="en-US" sz="1000" dirty="0"/>
          </a:p>
        </p:txBody>
      </p:sp>
      <p:sp>
        <p:nvSpPr>
          <p:cNvPr id="19" name="node_f5s"/>
          <p:cNvSpPr txBox="1"/>
          <p:nvPr/>
        </p:nvSpPr>
        <p:spPr>
          <a:xfrm>
            <a:off x="8229600" y="3749040"/>
            <a:ext cx="1737360" cy="56692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proportion_bubbleplot_ and_rep_timing.R</a:t>
            </a:r>
            <a:endParaRPr lang="en-US" sz="900" dirty="0"/>
          </a:p>
        </p:txBody>
      </p:sp>
      <p:sp>
        <p:nvSpPr>
          <p:cNvPr id="20" name="node_S12"/>
          <p:cNvSpPr txBox="1"/>
          <p:nvPr/>
        </p:nvSpPr>
        <p:spPr>
          <a:xfrm>
            <a:off x="10241280" y="1188720"/>
            <a:ext cx="155448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S12</a:t>
            </a:r>
            <a:endParaRPr lang="en-US" sz="1100" dirty="0"/>
          </a:p>
        </p:txBody>
      </p:sp>
      <p:sp>
        <p:nvSpPr>
          <p:cNvPr id="21" name="node_S3"/>
          <p:cNvSpPr txBox="1"/>
          <p:nvPr/>
        </p:nvSpPr>
        <p:spPr>
          <a:xfrm>
            <a:off x="10241280" y="2011680"/>
            <a:ext cx="155448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S3</a:t>
            </a:r>
            <a:endParaRPr lang="en-US" sz="1100" dirty="0"/>
          </a:p>
        </p:txBody>
      </p:sp>
      <p:sp>
        <p:nvSpPr>
          <p:cNvPr id="22" name="node_F5abc"/>
          <p:cNvSpPr txBox="1"/>
          <p:nvPr/>
        </p:nvSpPr>
        <p:spPr>
          <a:xfrm>
            <a:off x="1024128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5A–C</a:t>
            </a:r>
            <a:endParaRPr lang="en-US" sz="1100" dirty="0"/>
          </a:p>
        </p:txBody>
      </p:sp>
      <p:sp>
        <p:nvSpPr>
          <p:cNvPr id="23" name="node_F5d"/>
          <p:cNvSpPr txBox="1"/>
          <p:nvPr/>
        </p:nvSpPr>
        <p:spPr>
          <a:xfrm>
            <a:off x="10241280" y="411480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5D</a:t>
            </a:r>
            <a:endParaRPr lang="en-US" sz="1100" dirty="0"/>
          </a:p>
        </p:txBody>
      </p:sp>
      <p:sp>
        <p:nvSpPr>
          <p:cNvPr id="24" name="node_S13"/>
          <p:cNvSpPr txBox="1"/>
          <p:nvPr/>
        </p:nvSpPr>
        <p:spPr>
          <a:xfrm>
            <a:off x="10241280" y="484632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S13</a:t>
            </a:r>
            <a:endParaRPr lang="en-US" sz="1100" dirty="0"/>
          </a:p>
        </p:txBody>
      </p:sp>
      <p:sp>
        <p:nvSpPr>
          <p:cNvPr id="25" name="node_S4"/>
          <p:cNvSpPr txBox="1"/>
          <p:nvPr/>
        </p:nvSpPr>
        <p:spPr>
          <a:xfrm>
            <a:off x="10241280" y="553212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Figure S4</a:t>
            </a:r>
            <a:endParaRPr lang="en-US" sz="1100" dirty="0"/>
          </a:p>
        </p:txBody>
      </p:sp>
      <p:sp>
        <p:nvSpPr>
          <p:cNvPr id="26" name="edge_m3_r05"/>
          <p:cNvSpPr/>
          <p:nvPr/>
        </p:nvSpPr>
        <p:spPr>
          <a:xfrm flipV="1">
            <a:off x="2057400" y="1700784"/>
            <a:ext cx="274320" cy="53949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edge_m3_r06"/>
          <p:cNvSpPr/>
          <p:nvPr/>
        </p:nvSpPr>
        <p:spPr>
          <a:xfrm>
            <a:off x="2057400" y="2240280"/>
            <a:ext cx="274320" cy="83210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edge_mrt_r09"/>
          <p:cNvSpPr/>
          <p:nvPr/>
        </p:nvSpPr>
        <p:spPr>
          <a:xfrm>
            <a:off x="2057400" y="4983480"/>
            <a:ext cx="274320" cy="914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edge_r05_f05"/>
          <p:cNvSpPr/>
          <p:nvPr/>
        </p:nvSpPr>
        <p:spPr>
          <a:xfrm>
            <a:off x="3931920" y="1700784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edge_r06_f06"/>
          <p:cNvSpPr/>
          <p:nvPr/>
        </p:nvSpPr>
        <p:spPr>
          <a:xfrm>
            <a:off x="3931920" y="3072384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edge_r09_f09a"/>
          <p:cNvSpPr/>
          <p:nvPr/>
        </p:nvSpPr>
        <p:spPr>
          <a:xfrm flipV="1">
            <a:off x="3931920" y="4626864"/>
            <a:ext cx="274320" cy="3657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edge_r09_f09b"/>
          <p:cNvSpPr/>
          <p:nvPr/>
        </p:nvSpPr>
        <p:spPr>
          <a:xfrm>
            <a:off x="3931920" y="4992624"/>
            <a:ext cx="274320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edge_f05_bs12"/>
          <p:cNvSpPr/>
          <p:nvPr/>
        </p:nvSpPr>
        <p:spPr>
          <a:xfrm flipV="1">
            <a:off x="5897880" y="1472184"/>
            <a:ext cx="32004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edge_f05_r08"/>
          <p:cNvSpPr/>
          <p:nvPr/>
        </p:nvSpPr>
        <p:spPr>
          <a:xfrm>
            <a:off x="5897880" y="1700784"/>
            <a:ext cx="32004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edge_f06_r08"/>
          <p:cNvSpPr/>
          <p:nvPr/>
        </p:nvSpPr>
        <p:spPr>
          <a:xfrm flipV="1">
            <a:off x="5897880" y="2295144"/>
            <a:ext cx="320040" cy="7772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edge_f06_aat"/>
          <p:cNvSpPr/>
          <p:nvPr/>
        </p:nvSpPr>
        <p:spPr>
          <a:xfrm>
            <a:off x="5897880" y="3072384"/>
            <a:ext cx="320040" cy="457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edge_aat_cp"/>
          <p:cNvSpPr/>
          <p:nvPr/>
        </p:nvSpPr>
        <p:spPr>
          <a:xfrm>
            <a:off x="7955280" y="3118104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edge_cp_f5s"/>
          <p:cNvSpPr/>
          <p:nvPr/>
        </p:nvSpPr>
        <p:spPr>
          <a:xfrm>
            <a:off x="9098280" y="3401568"/>
            <a:ext cx="0" cy="34747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edge_f09a_f5s"/>
          <p:cNvSpPr/>
          <p:nvPr/>
        </p:nvSpPr>
        <p:spPr>
          <a:xfrm flipV="1">
            <a:off x="5897880" y="4032504"/>
            <a:ext cx="233172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edge_f09b_f5s"/>
          <p:cNvSpPr/>
          <p:nvPr/>
        </p:nvSpPr>
        <p:spPr>
          <a:xfrm flipV="1">
            <a:off x="5897880" y="4032504"/>
            <a:ext cx="2331720" cy="1371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edge_f09b_bs13"/>
          <p:cNvSpPr/>
          <p:nvPr/>
        </p:nvSpPr>
        <p:spPr>
          <a:xfrm flipV="1">
            <a:off x="5897880" y="5097780"/>
            <a:ext cx="320040" cy="30632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2" name="edge_f09a_r09f"/>
          <p:cNvSpPr/>
          <p:nvPr/>
        </p:nvSpPr>
        <p:spPr>
          <a:xfrm>
            <a:off x="5897880" y="4626864"/>
            <a:ext cx="320040" cy="115671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edge_f09b_r09f"/>
          <p:cNvSpPr/>
          <p:nvPr/>
        </p:nvSpPr>
        <p:spPr>
          <a:xfrm>
            <a:off x="5897880" y="5404104"/>
            <a:ext cx="320040" cy="37947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edge_bs12_S12"/>
          <p:cNvSpPr/>
          <p:nvPr/>
        </p:nvSpPr>
        <p:spPr>
          <a:xfrm>
            <a:off x="7955280" y="1472184"/>
            <a:ext cx="22860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edge_r08_S3"/>
          <p:cNvSpPr/>
          <p:nvPr/>
        </p:nvSpPr>
        <p:spPr>
          <a:xfrm>
            <a:off x="7955280" y="2295144"/>
            <a:ext cx="22860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6" name="edge_f5s_F5abc"/>
          <p:cNvSpPr/>
          <p:nvPr/>
        </p:nvSpPr>
        <p:spPr>
          <a:xfrm flipV="1">
            <a:off x="9966960" y="3680460"/>
            <a:ext cx="274320" cy="35204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7" name="edge_f5s_F5d"/>
          <p:cNvSpPr/>
          <p:nvPr/>
        </p:nvSpPr>
        <p:spPr>
          <a:xfrm>
            <a:off x="9966960" y="4032504"/>
            <a:ext cx="274320" cy="33375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8" name="edge_bs13_S13"/>
          <p:cNvSpPr/>
          <p:nvPr/>
        </p:nvSpPr>
        <p:spPr>
          <a:xfrm>
            <a:off x="7955280" y="5097780"/>
            <a:ext cx="22860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9" name="edge_r09f_S4"/>
          <p:cNvSpPr/>
          <p:nvPr/>
        </p:nvSpPr>
        <p:spPr>
          <a:xfrm>
            <a:off x="7955280" y="5783580"/>
            <a:ext cx="22860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657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Only difference: one Table S12 odds ratio (Colon, ID_J, intergenic/genic) differs in the 5th decimal place.</a:t>
            </a:r>
            <a:endParaRPr lang="en-US" sz="1100" dirty="0"/>
          </a:p>
        </p:txBody>
      </p:sp>
      <p:sp>
        <p:nvSpPr>
          <p:cNvPr id="51" name="legend_script"/>
          <p:cNvSpPr/>
          <p:nvPr/>
        </p:nvSpPr>
        <p:spPr>
          <a:xfrm>
            <a:off x="457200" y="6181344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4672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Script</a:t>
            </a:r>
            <a:endParaRPr lang="en-US" sz="1000" dirty="0"/>
          </a:p>
        </p:txBody>
      </p:sp>
      <p:sp>
        <p:nvSpPr>
          <p:cNvPr id="53" name="legend_code_missing"/>
          <p:cNvSpPr/>
          <p:nvPr/>
        </p:nvSpPr>
        <p:spPr>
          <a:xfrm>
            <a:off x="2084832" y="6181344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2432304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Code missing</a:t>
            </a:r>
            <a:endParaRPr lang="en-US" sz="1000" dirty="0"/>
          </a:p>
        </p:txBody>
      </p:sp>
      <p:sp>
        <p:nvSpPr>
          <p:cNvPr id="55" name="legend_data_ok"/>
          <p:cNvSpPr/>
          <p:nvPr/>
        </p:nvSpPr>
        <p:spPr>
          <a:xfrm>
            <a:off x="3712464" y="6181344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059936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in repo</a:t>
            </a:r>
            <a:endParaRPr lang="en-US" sz="1000" dirty="0"/>
          </a:p>
        </p:txBody>
      </p:sp>
      <p:sp>
        <p:nvSpPr>
          <p:cNvPr id="57" name="legend_data_partial"/>
          <p:cNvSpPr/>
          <p:nvPr/>
        </p:nvSpPr>
        <p:spPr>
          <a:xfrm>
            <a:off x="5340096" y="6181344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687568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59" name="legend_data_missing"/>
          <p:cNvSpPr/>
          <p:nvPr/>
        </p:nvSpPr>
        <p:spPr>
          <a:xfrm>
            <a:off x="6967728" y="6181344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15200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missing</a:t>
            </a:r>
            <a:endParaRPr lang="en-US" sz="1000" dirty="0"/>
          </a:p>
        </p:txBody>
      </p:sp>
      <p:sp>
        <p:nvSpPr>
          <p:cNvPr id="61" name="legend_out_ok"/>
          <p:cNvSpPr/>
          <p:nvPr/>
        </p:nvSpPr>
        <p:spPr>
          <a:xfrm>
            <a:off x="8595360" y="6181344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42832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Reproduced output</a:t>
            </a:r>
            <a:endParaRPr lang="en-US" sz="1000" dirty="0"/>
          </a:p>
        </p:txBody>
      </p:sp>
      <p:sp>
        <p:nvSpPr>
          <p:cNvPr id="63" name="legend_out_blocked"/>
          <p:cNvSpPr/>
          <p:nvPr/>
        </p:nvSpPr>
        <p:spPr>
          <a:xfrm>
            <a:off x="10222992" y="6181344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10570464" y="6144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Blocked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ID89 replication timing: Table S14 reproduces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Scripts from Mini are in ID89_topography_analysis_code/. This analysis has no simulated data. Steps before r.04 cannot be rerun.</a:t>
            </a:r>
            <a:endParaRPr lang="en-US" sz="1400" dirty="0"/>
          </a:p>
        </p:txBody>
      </p:sp>
      <p:sp>
        <p:nvSpPr>
          <p:cNvPr id="4" name="node_pc"/>
          <p:cNvSpPr txBox="1"/>
          <p:nvPr/>
        </p:nvSpPr>
        <p:spPr>
          <a:xfrm>
            <a:off x="365760" y="201168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all.indel.ID89. partial.credit.txt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Mo, too large</a:t>
            </a:r>
            <a:endParaRPr lang="en-US" sz="1000" dirty="0"/>
          </a:p>
        </p:txBody>
      </p:sp>
      <p:sp>
        <p:nvSpPr>
          <p:cNvPr id="5" name="node_r01"/>
          <p:cNvSpPr txBox="1"/>
          <p:nvPr/>
        </p:nvSpPr>
        <p:spPr>
          <a:xfrm>
            <a:off x="2514600" y="2103120"/>
            <a:ext cx="15544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r.01_createBed.R</a:t>
            </a:r>
            <a:endParaRPr lang="en-US" sz="1000" dirty="0"/>
          </a:p>
        </p:txBody>
      </p:sp>
      <p:sp>
        <p:nvSpPr>
          <p:cNvPr id="6" name="node_rtb"/>
          <p:cNvSpPr txBox="1"/>
          <p:nvPr/>
        </p:nvSpPr>
        <p:spPr>
          <a:xfrm>
            <a:off x="2514600" y="329184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01.rtGroup.bed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ID83 r.01</a:t>
            </a:r>
            <a:endParaRPr lang="en-US" sz="1000" dirty="0"/>
          </a:p>
        </p:txBody>
      </p:sp>
      <p:sp>
        <p:nvSpPr>
          <p:cNvPr id="7" name="node_enc"/>
          <p:cNvSpPr txBox="1"/>
          <p:nvPr/>
        </p:nvSpPr>
        <p:spPr>
          <a:xfrm>
            <a:off x="2514600" y="42976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ENCODE/repli_ strand_info_new.bed</a:t>
            </a:r>
            <a:endParaRPr lang="en-US" sz="1000" dirty="0"/>
          </a:p>
        </p:txBody>
      </p:sp>
      <p:sp>
        <p:nvSpPr>
          <p:cNvPr id="8" name="node_r02"/>
          <p:cNvSpPr txBox="1"/>
          <p:nvPr/>
        </p:nvSpPr>
        <p:spPr>
          <a:xfrm>
            <a:off x="4389120" y="2103120"/>
            <a:ext cx="15544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r.02.intersect_ no_loop.sh</a:t>
            </a:r>
            <a:endParaRPr lang="en-US" sz="1000" dirty="0"/>
          </a:p>
        </p:txBody>
      </p:sp>
      <p:sp>
        <p:nvSpPr>
          <p:cNvPr id="9" name="node_r03"/>
          <p:cNvSpPr txBox="1"/>
          <p:nvPr/>
        </p:nvSpPr>
        <p:spPr>
          <a:xfrm>
            <a:off x="6263640" y="2103120"/>
            <a:ext cx="146304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r.03_mergeInf.R</a:t>
            </a:r>
            <a:endParaRPr lang="en-US" sz="1000" dirty="0"/>
          </a:p>
        </p:txBody>
      </p:sp>
      <p:sp>
        <p:nvSpPr>
          <p:cNvPr id="10" name="node_meta"/>
          <p:cNvSpPr txBox="1"/>
          <p:nvPr/>
        </p:nvSpPr>
        <p:spPr>
          <a:xfrm>
            <a:off x="6263640" y="329184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all.meta.0528.rds</a:t>
            </a:r>
            <a:endParaRPr lang="en-US" sz="1000" dirty="0"/>
          </a:p>
        </p:txBody>
      </p:sp>
      <p:sp>
        <p:nvSpPr>
          <p:cNvPr id="11" name="node_r04"/>
          <p:cNvSpPr txBox="1"/>
          <p:nvPr/>
        </p:nvSpPr>
        <p:spPr>
          <a:xfrm>
            <a:off x="8046720" y="2103120"/>
            <a:ext cx="160020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r.04_create RTgroupInf.R</a:t>
            </a:r>
            <a:endParaRPr lang="en-US" sz="1000" dirty="0"/>
          </a:p>
        </p:txBody>
      </p:sp>
      <p:sp>
        <p:nvSpPr>
          <p:cNvPr id="12" name="node_rds"/>
          <p:cNvSpPr txBox="1"/>
          <p:nvPr/>
        </p:nvSpPr>
        <p:spPr>
          <a:xfrm>
            <a:off x="8046720" y="3246120"/>
            <a:ext cx="16002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rtGroup/tissue.rtGroup. Mutation_50cutoff.xlsx</a:t>
            </a:r>
            <a:endParaRPr lang="en-US" sz="9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Mini, 2026-10-16</a:t>
            </a:r>
            <a:endParaRPr lang="en-US" sz="900" dirty="0"/>
          </a:p>
        </p:txBody>
      </p:sp>
      <p:sp>
        <p:nvSpPr>
          <p:cNvPr id="13" name="node_r09"/>
          <p:cNvSpPr txBox="1"/>
          <p:nvPr/>
        </p:nvSpPr>
        <p:spPr>
          <a:xfrm>
            <a:off x="8046720" y="4297680"/>
            <a:ext cx="160020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r.09_barplot.R</a:t>
            </a:r>
            <a:endParaRPr lang="en-US" sz="1000" dirty="0"/>
          </a:p>
        </p:txBody>
      </p:sp>
      <p:sp>
        <p:nvSpPr>
          <p:cNvPr id="14" name="node_tr"/>
          <p:cNvSpPr txBox="1"/>
          <p:nvPr/>
        </p:nvSpPr>
        <p:spPr>
          <a:xfrm>
            <a:off x="10058400" y="429768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trend.xlsx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copy: trend_89.xlsx</a:t>
            </a:r>
            <a:endParaRPr lang="en-US" sz="1000" dirty="0"/>
          </a:p>
        </p:txBody>
      </p:sp>
      <p:sp>
        <p:nvSpPr>
          <p:cNvPr id="15" name="node_bs14"/>
          <p:cNvSpPr txBox="1"/>
          <p:nvPr/>
        </p:nvSpPr>
        <p:spPr>
          <a:xfrm>
            <a:off x="10058400" y="3246120"/>
            <a:ext cx="173736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 table_s14.R</a:t>
            </a:r>
            <a:endParaRPr lang="en-US" sz="1000" dirty="0"/>
          </a:p>
        </p:txBody>
      </p:sp>
      <p:sp>
        <p:nvSpPr>
          <p:cNvPr id="16" name="node_S14"/>
          <p:cNvSpPr txBox="1"/>
          <p:nvPr/>
        </p:nvSpPr>
        <p:spPr>
          <a:xfrm>
            <a:off x="10058400" y="210312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Table S14</a:t>
            </a:r>
            <a:endParaRPr lang="en-US" sz="1100" dirty="0"/>
          </a:p>
        </p:txBody>
      </p:sp>
      <p:sp>
        <p:nvSpPr>
          <p:cNvPr id="17" name="edge_pc_r01"/>
          <p:cNvSpPr/>
          <p:nvPr/>
        </p:nvSpPr>
        <p:spPr>
          <a:xfrm flipV="1">
            <a:off x="2194560" y="2423160"/>
            <a:ext cx="3200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edge_r01_r02"/>
          <p:cNvSpPr/>
          <p:nvPr/>
        </p:nvSpPr>
        <p:spPr>
          <a:xfrm>
            <a:off x="4069080" y="2423160"/>
            <a:ext cx="3200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edge_rtb_r02"/>
          <p:cNvSpPr/>
          <p:nvPr/>
        </p:nvSpPr>
        <p:spPr>
          <a:xfrm flipV="1">
            <a:off x="4069080" y="2423160"/>
            <a:ext cx="320040" cy="12344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edge_enc_r02"/>
          <p:cNvSpPr/>
          <p:nvPr/>
        </p:nvSpPr>
        <p:spPr>
          <a:xfrm flipV="1">
            <a:off x="4069080" y="2423160"/>
            <a:ext cx="320040" cy="22402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edge_r02_r03"/>
          <p:cNvSpPr/>
          <p:nvPr/>
        </p:nvSpPr>
        <p:spPr>
          <a:xfrm>
            <a:off x="5943600" y="2423160"/>
            <a:ext cx="3200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edge_meta_r03"/>
          <p:cNvSpPr/>
          <p:nvPr/>
        </p:nvSpPr>
        <p:spPr>
          <a:xfrm flipV="1">
            <a:off x="6995160" y="2743200"/>
            <a:ext cx="0" cy="5486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edge_r03_r04"/>
          <p:cNvSpPr/>
          <p:nvPr/>
        </p:nvSpPr>
        <p:spPr>
          <a:xfrm>
            <a:off x="7726680" y="2423160"/>
            <a:ext cx="3200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edge_r04_rds"/>
          <p:cNvSpPr/>
          <p:nvPr/>
        </p:nvSpPr>
        <p:spPr>
          <a:xfrm>
            <a:off x="8846820" y="2743200"/>
            <a:ext cx="0" cy="5029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edge_rds_r09"/>
          <p:cNvSpPr/>
          <p:nvPr/>
        </p:nvSpPr>
        <p:spPr>
          <a:xfrm>
            <a:off x="8846820" y="4069080"/>
            <a:ext cx="0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edge_r09_tr"/>
          <p:cNvSpPr/>
          <p:nvPr/>
        </p:nvSpPr>
        <p:spPr>
          <a:xfrm>
            <a:off x="9646920" y="4617720"/>
            <a:ext cx="41148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edge_tr_bs14"/>
          <p:cNvSpPr/>
          <p:nvPr/>
        </p:nvSpPr>
        <p:spPr>
          <a:xfrm flipV="1">
            <a:off x="10927080" y="3977640"/>
            <a:ext cx="0" cy="3200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edge_bs14_S14"/>
          <p:cNvSpPr/>
          <p:nvPr/>
        </p:nvSpPr>
        <p:spPr>
          <a:xfrm flipV="1">
            <a:off x="10927080" y="2743200"/>
            <a:ext cx="0" cy="5029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38912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r.02.intersect_no_loop.sh as received writes to ID83 result folders, which looks like a leftover from the ID83 version.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257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Reran 2026-10-16: trend.xlsx matches the paper's Table S14 exactly (945 rows). Rerunning r.01 to r.04 needs the partial-credit file from Mo.</a:t>
            </a:r>
            <a:endParaRPr lang="en-US" sz="1100" dirty="0"/>
          </a:p>
        </p:txBody>
      </p:sp>
      <p:sp>
        <p:nvSpPr>
          <p:cNvPr id="31" name="legend_script"/>
          <p:cNvSpPr/>
          <p:nvPr/>
        </p:nvSpPr>
        <p:spPr>
          <a:xfrm>
            <a:off x="457200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Script</a:t>
            </a:r>
            <a:endParaRPr lang="en-US" sz="1000" dirty="0"/>
          </a:p>
        </p:txBody>
      </p:sp>
      <p:sp>
        <p:nvSpPr>
          <p:cNvPr id="33" name="legend_code_missing"/>
          <p:cNvSpPr/>
          <p:nvPr/>
        </p:nvSpPr>
        <p:spPr>
          <a:xfrm>
            <a:off x="2084832" y="5934456"/>
            <a:ext cx="292608" cy="20116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243230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Code missing</a:t>
            </a:r>
            <a:endParaRPr lang="en-US" sz="1000" dirty="0"/>
          </a:p>
        </p:txBody>
      </p:sp>
      <p:sp>
        <p:nvSpPr>
          <p:cNvPr id="35" name="legend_data_ok"/>
          <p:cNvSpPr/>
          <p:nvPr/>
        </p:nvSpPr>
        <p:spPr>
          <a:xfrm>
            <a:off x="3712464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59936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in repo</a:t>
            </a:r>
            <a:endParaRPr lang="en-US" sz="1000" dirty="0"/>
          </a:p>
        </p:txBody>
      </p:sp>
      <p:sp>
        <p:nvSpPr>
          <p:cNvPr id="37" name="legend_data_partial"/>
          <p:cNvSpPr/>
          <p:nvPr/>
        </p:nvSpPr>
        <p:spPr>
          <a:xfrm>
            <a:off x="5340096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87568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39" name="legend_data_missing"/>
          <p:cNvSpPr/>
          <p:nvPr/>
        </p:nvSpPr>
        <p:spPr>
          <a:xfrm>
            <a:off x="6967728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Data missing</a:t>
            </a:r>
            <a:endParaRPr lang="en-US" sz="1000" dirty="0"/>
          </a:p>
        </p:txBody>
      </p:sp>
      <p:sp>
        <p:nvSpPr>
          <p:cNvPr id="41" name="legend_out_ok"/>
          <p:cNvSpPr/>
          <p:nvPr/>
        </p:nvSpPr>
        <p:spPr>
          <a:xfrm>
            <a:off x="8595360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42832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Reproduced output</a:t>
            </a:r>
            <a:endParaRPr lang="en-US" sz="1000" dirty="0"/>
          </a:p>
        </p:txBody>
      </p:sp>
      <p:sp>
        <p:nvSpPr>
          <p:cNvPr id="43" name="legend_out_blocked"/>
          <p:cNvSpPr/>
          <p:nvPr/>
        </p:nvSpPr>
        <p:spPr>
          <a:xfrm>
            <a:off x="10222992" y="5934456"/>
            <a:ext cx="292608" cy="201168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10570464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Blocked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pography pipeline">
  <a:themeElements>
    <a:clrScheme name="Topography pipeline">
      <a:dk1>
        <a:srgbClr val="1F2A30"/>
      </a:dk1>
      <a:lt1>
        <a:srgbClr val="FFFFFF"/>
      </a:lt1>
      <a:dk2>
        <a:srgbClr val="3B4A54"/>
      </a:dk2>
      <a:lt2>
        <a:srgbClr val="EEF2F4"/>
      </a:lt2>
      <a:accent1>
        <a:srgbClr val="2E7D4F"/>
      </a:accent1>
      <a:accent2>
        <a:srgbClr val="C0392B"/>
      </a:accent2>
      <a:accent3>
        <a:srgbClr val="1F5F8B"/>
      </a:accent3>
      <a:accent4>
        <a:srgbClr val="C98A1B"/>
      </a:accent4>
      <a:accent5>
        <a:srgbClr val="7A8A94"/>
      </a:accent5>
      <a:accent6>
        <a:srgbClr val="D9E7DE"/>
      </a:accent6>
      <a:hlink>
        <a:srgbClr val="1F5F8B"/>
      </a:hlink>
      <a:folHlink>
        <a:srgbClr val="6D4C8B"/>
      </a:folHlink>
    </a:clrScheme>
    <a:fontScheme name="Topography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Topography pipeline</dc:title>
  <dc:subject>PptxGenJS Presentation</dc:subject>
  <dc:creator>Steven G. Rozen</dc:creator>
  <cp:lastModifiedBy>Steven G. Rozen</cp:lastModifiedBy>
  <cp:revision>1</cp:revision>
  <dcterms:created xsi:type="dcterms:W3CDTF">2026-10-16T12:42:05Z</dcterms:created>
  <dcterms:modified xsi:type="dcterms:W3CDTF">2026-10-16T12:42:05Z</dcterms:modified>
</cp:coreProperties>
</file>