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828BD24-4A24-4B27-A1AA-8CC26C83F523}" type="slidenum">
              <a:rPr lang="en-US" sz="10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527400"/>
            <a:ext cx="8227080" cy="21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20E2B99-FA55-49C0-9A57-D247D3DA6A97}" type="slidenum">
              <a:rPr lang="en-US" sz="10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546040" y="470124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9ABB87-9ADE-4718-968D-B53821F48F6B}" type="slidenum">
              <a:rPr lang="en-US" sz="10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Google Shape;237;p33"/>
          <p:cNvPicPr/>
          <p:nvPr/>
        </p:nvPicPr>
        <p:blipFill>
          <a:blip r:embed="rId1"/>
          <a:srcRect l="0" t="19511" r="0" b="25440"/>
          <a:stretch/>
        </p:blipFill>
        <p:spPr>
          <a:xfrm>
            <a:off x="406440" y="452520"/>
            <a:ext cx="4062960" cy="81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Google Shape;238;p33"/>
          <p:cNvSpPr/>
          <p:nvPr/>
        </p:nvSpPr>
        <p:spPr>
          <a:xfrm flipH="1">
            <a:off x="5096160" y="371880"/>
            <a:ext cx="224388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Previous hypothesis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Google Shape;239;p33"/>
          <p:cNvPicPr/>
          <p:nvPr/>
        </p:nvPicPr>
        <p:blipFill>
          <a:blip r:embed="rId2"/>
          <a:srcRect l="0" t="0" r="0" b="43111"/>
          <a:stretch/>
        </p:blipFill>
        <p:spPr>
          <a:xfrm>
            <a:off x="460080" y="1328040"/>
            <a:ext cx="4304160" cy="81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Google Shape;240;p33"/>
          <p:cNvPicPr/>
          <p:nvPr/>
        </p:nvPicPr>
        <p:blipFill>
          <a:blip r:embed="rId3"/>
          <a:srcRect l="0" t="8443" r="0" b="43111"/>
          <a:stretch/>
        </p:blipFill>
        <p:spPr>
          <a:xfrm>
            <a:off x="234000" y="3300840"/>
            <a:ext cx="4407120" cy="75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Google Shape;241;p33"/>
          <p:cNvSpPr/>
          <p:nvPr/>
        </p:nvSpPr>
        <p:spPr>
          <a:xfrm>
            <a:off x="284040" y="2501280"/>
            <a:ext cx="453168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Correct signature of RNase H2 deficiency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Google Shape;242;p33"/>
          <p:cNvPicPr/>
          <p:nvPr/>
        </p:nvPicPr>
        <p:blipFill>
          <a:blip r:embed="rId4"/>
          <a:srcRect l="0" t="18152" r="0" b="0"/>
          <a:stretch/>
        </p:blipFill>
        <p:spPr>
          <a:xfrm>
            <a:off x="4644000" y="891720"/>
            <a:ext cx="4304160" cy="148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Google Shape;243;p33"/>
          <p:cNvPicPr/>
          <p:nvPr/>
        </p:nvPicPr>
        <p:blipFill>
          <a:blip r:embed="rId5"/>
          <a:stretch/>
        </p:blipFill>
        <p:spPr>
          <a:xfrm>
            <a:off x="4766400" y="2784240"/>
            <a:ext cx="4165920" cy="155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Google Shape;244;p33"/>
          <p:cNvSpPr/>
          <p:nvPr/>
        </p:nvSpPr>
        <p:spPr>
          <a:xfrm>
            <a:off x="4644000" y="2610360"/>
            <a:ext cx="414000" cy="45936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F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245;p33"/>
          <p:cNvSpPr/>
          <p:nvPr/>
        </p:nvSpPr>
        <p:spPr>
          <a:xfrm>
            <a:off x="7346880" y="337680"/>
            <a:ext cx="414000" cy="45936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Num" idx="4"/>
          </p:nvPr>
        </p:nvSpPr>
        <p:spPr>
          <a:xfrm>
            <a:off x="8546040" y="470124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113386E-03FA-4BC8-8644-8707BC4D44A3}" type="slidenum">
              <a:rPr lang="en-US" sz="10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Google Shape;266;p35"/>
          <p:cNvSpPr/>
          <p:nvPr/>
        </p:nvSpPr>
        <p:spPr>
          <a:xfrm flipH="1">
            <a:off x="794520" y="310320"/>
            <a:ext cx="224388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Previous hypothesis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Google Shape;267;p35"/>
          <p:cNvPicPr/>
          <p:nvPr/>
        </p:nvPicPr>
        <p:blipFill>
          <a:blip r:embed="rId1"/>
          <a:srcRect l="0" t="18152" r="0" b="0"/>
          <a:stretch/>
        </p:blipFill>
        <p:spPr>
          <a:xfrm>
            <a:off x="296280" y="891720"/>
            <a:ext cx="4304160" cy="148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Google Shape;268;p35"/>
          <p:cNvPicPr/>
          <p:nvPr/>
        </p:nvPicPr>
        <p:blipFill>
          <a:blip r:embed="rId2"/>
          <a:stretch/>
        </p:blipFill>
        <p:spPr>
          <a:xfrm>
            <a:off x="4766400" y="848520"/>
            <a:ext cx="4165920" cy="155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Google Shape;269;p35"/>
          <p:cNvPicPr/>
          <p:nvPr/>
        </p:nvPicPr>
        <p:blipFill>
          <a:blip r:embed="rId3"/>
          <a:stretch/>
        </p:blipFill>
        <p:spPr>
          <a:xfrm>
            <a:off x="315000" y="3007800"/>
            <a:ext cx="4304160" cy="160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Google Shape;270;p35"/>
          <p:cNvSpPr/>
          <p:nvPr/>
        </p:nvSpPr>
        <p:spPr>
          <a:xfrm>
            <a:off x="3045240" y="276480"/>
            <a:ext cx="414000" cy="45936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271;p35"/>
          <p:cNvSpPr/>
          <p:nvPr/>
        </p:nvSpPr>
        <p:spPr>
          <a:xfrm>
            <a:off x="8267400" y="276480"/>
            <a:ext cx="414000" cy="45936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F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272;p35"/>
          <p:cNvSpPr/>
          <p:nvPr/>
        </p:nvSpPr>
        <p:spPr>
          <a:xfrm flipH="1">
            <a:off x="4966560" y="237960"/>
            <a:ext cx="313164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Correct signature of RNase H2 deficiency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273;p35"/>
          <p:cNvSpPr/>
          <p:nvPr/>
        </p:nvSpPr>
        <p:spPr>
          <a:xfrm>
            <a:off x="5032440" y="2500560"/>
            <a:ext cx="38998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Human tumor dominated by signature 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274;p35"/>
          <p:cNvSpPr/>
          <p:nvPr/>
        </p:nvSpPr>
        <p:spPr>
          <a:xfrm>
            <a:off x="627480" y="2535120"/>
            <a:ext cx="39916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Human tumor 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dominated by </a:t>
            </a: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signature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Google Shape;275;p35"/>
          <p:cNvPicPr/>
          <p:nvPr/>
        </p:nvPicPr>
        <p:blipFill>
          <a:blip r:embed="rId4"/>
          <a:stretch/>
        </p:blipFill>
        <p:spPr>
          <a:xfrm>
            <a:off x="4830480" y="3054600"/>
            <a:ext cx="4165920" cy="155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Google Shape;276;p35"/>
          <p:cNvSpPr/>
          <p:nvPr/>
        </p:nvSpPr>
        <p:spPr>
          <a:xfrm>
            <a:off x="4621680" y="2455920"/>
            <a:ext cx="4438800" cy="2243160"/>
          </a:xfrm>
          <a:prstGeom prst="rect">
            <a:avLst/>
          </a:prstGeom>
          <a:noFill/>
          <a:ln w="2844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sldNum" idx="5"/>
          </p:nvPr>
        </p:nvSpPr>
        <p:spPr>
          <a:xfrm>
            <a:off x="8546040" y="470124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2B896B9-FCEE-4F48-A743-65AEFA09FC27}" type="slidenum">
              <a:rPr lang="en-US" sz="10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3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Google Shape;282;p36"/>
          <p:cNvSpPr/>
          <p:nvPr/>
        </p:nvSpPr>
        <p:spPr>
          <a:xfrm flipH="1">
            <a:off x="794520" y="310320"/>
            <a:ext cx="224388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Previous hypothesis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Google Shape;283;p36"/>
          <p:cNvPicPr/>
          <p:nvPr/>
        </p:nvPicPr>
        <p:blipFill>
          <a:blip r:embed="rId1"/>
          <a:srcRect l="0" t="18152" r="0" b="0"/>
          <a:stretch/>
        </p:blipFill>
        <p:spPr>
          <a:xfrm>
            <a:off x="296280" y="891720"/>
            <a:ext cx="4304160" cy="148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Google Shape;284;p36"/>
          <p:cNvPicPr/>
          <p:nvPr/>
        </p:nvPicPr>
        <p:blipFill>
          <a:blip r:embed="rId2"/>
          <a:stretch/>
        </p:blipFill>
        <p:spPr>
          <a:xfrm>
            <a:off x="4766400" y="848520"/>
            <a:ext cx="4165920" cy="155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Google Shape;285;p36"/>
          <p:cNvSpPr/>
          <p:nvPr/>
        </p:nvSpPr>
        <p:spPr>
          <a:xfrm>
            <a:off x="3045240" y="276480"/>
            <a:ext cx="414000" cy="45936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286;p36"/>
          <p:cNvSpPr/>
          <p:nvPr/>
        </p:nvSpPr>
        <p:spPr>
          <a:xfrm>
            <a:off x="8267400" y="276480"/>
            <a:ext cx="414000" cy="45936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F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287;p36"/>
          <p:cNvSpPr/>
          <p:nvPr/>
        </p:nvSpPr>
        <p:spPr>
          <a:xfrm flipH="1">
            <a:off x="4966560" y="237960"/>
            <a:ext cx="313164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Correct signature of RNase H2 deficiency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288;p36"/>
          <p:cNvSpPr/>
          <p:nvPr/>
        </p:nvSpPr>
        <p:spPr>
          <a:xfrm>
            <a:off x="7788600" y="2584080"/>
            <a:ext cx="130356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"Del2:M1"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mostly: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TCT→T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TGT→T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289;p36"/>
          <p:cNvSpPr/>
          <p:nvPr/>
        </p:nvSpPr>
        <p:spPr>
          <a:xfrm>
            <a:off x="5363280" y="2584080"/>
            <a:ext cx="1952280" cy="17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"Del2:U2:R2"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mostly: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CTCT→CT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TCTC→TC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TGTG→TG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ACAC→AC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290;p36"/>
          <p:cNvSpPr/>
          <p:nvPr/>
        </p:nvSpPr>
        <p:spPr>
          <a:xfrm>
            <a:off x="432000" y="2584080"/>
            <a:ext cx="1780560" cy="19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"Del3:U3:R2"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TCTTCT→TCT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CTTCTT→CTT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AATAAT→AAT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…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(pref for 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Cs and Ts)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292;p36"/>
          <p:cNvSpPr/>
          <p:nvPr/>
        </p:nvSpPr>
        <p:spPr>
          <a:xfrm>
            <a:off x="2130480" y="2584080"/>
            <a:ext cx="182916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"Del3:M2"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CTCCT -&gt; CT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CTTCT -&gt; CT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…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293;p36"/>
          <p:cNvSpPr/>
          <p:nvPr/>
        </p:nvSpPr>
        <p:spPr>
          <a:xfrm>
            <a:off x="3533760" y="2584080"/>
            <a:ext cx="241740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"Del4:M3"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AATTATT -&gt; ATT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TTTCTTT -&gt; TTT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…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 flipV="1">
            <a:off x="8340120" y="240192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 flipV="1">
            <a:off x="6000120" y="240228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 flipV="1">
            <a:off x="4092120" y="240264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 flipV="1">
            <a:off x="3984120" y="240300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 flipV="1">
            <a:off x="1788120" y="240336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400</TotalTime>
  <Application>LibreOffice/26.2.2.2$Linux_X86_64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lastPrinted>2026-04-12T12:59:17Z</cp:lastPrinted>
  <dcterms:modified xsi:type="dcterms:W3CDTF">2026-05-08T09:11:35Z</dcterms:modified>
  <cp:revision>59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