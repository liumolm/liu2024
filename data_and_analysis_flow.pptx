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62f6b12-109e-3270-b689-47c069e7c7a6}">
          <p14:sldIdLst>
            <p14:sldId id="256"/>
          </p14:sldIdLst>
        </p14:section>
        <p14:section name="Data" id="{bf5c3d92-1310-0537-b172-f53b1f7212bd}">
          <p14:sldIdLst>
            <p14:sldId id="257"/>
          </p14:sldIdLst>
        </p14:section>
        <p14:section name="Figures and tables" id="{1ae5bcbb-ebe0-77e0-7e92-fe39c8ab21be}">
          <p14:sldIdLst>
            <p14:sldId id="258"/>
            <p14:sldId id="259"/>
            <p14:sldId id="260"/>
          </p14:sldIdLst>
        </p14:section>
        <p14:section name="indelsig.net" id="{0cfac75d-4eaf-4d42-5b24-f08be1580911}">
          <p14:sldIdLst>
            <p14:sldId id="261"/>
          </p14:sldIdLst>
        </p14:section>
        <p14:section name="New assignments" id="{46f2592b-bd05-ab01-b36a-c46070c54cb4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three repositories. Upstream steps (variant calling, extraction, assignment) are not rerun by the build scripts. Their results are frozen in unified_indels_data.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LO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4"/>
                </a:solidFill>
              </a:rPr>
              <a:t>Liu et al. 2026 · data and analysis flow · status 2026-10-22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the paper and indelsig.net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54"/>
                </a:solidFill>
              </a:rPr>
              <a:t>Three repositories. The data repo holds the finalized data, the code repo turns them into every figure and table, and the paper repo assembles them.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0"/>
                </a:solidFill>
              </a:rPr>
              <a:t>Upstream (not rerun here)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0"/>
                </a:solidFill>
              </a:rPr>
              <a:t>unified_indels_data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0"/>
                </a:solidFill>
              </a:rPr>
              <a:t>Liu2026_code_and_data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235440" y="1371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0"/>
                </a:solidFill>
              </a:rPr>
              <a:t>Outputs</a:t>
            </a:r>
            <a:endParaRPr lang="en-US" sz="1400" dirty="0"/>
          </a:p>
        </p:txBody>
      </p:sp>
      <p:sp>
        <p:nvSpPr>
          <p:cNvPr id="8" name="HMF and PCAWG VCFs metadata (Hartwig, IC"/>
          <p:cNvSpPr txBox="1"/>
          <p:nvPr/>
        </p:nvSpPr>
        <p:spPr>
          <a:xfrm>
            <a:off x="457200" y="178308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HMF and PCAWG VCFs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(Hartwig, ICGC)</a:t>
            </a:r>
            <a:endParaRPr lang="en-US" sz="1000" dirty="0"/>
          </a:p>
        </p:txBody>
      </p:sp>
      <p:sp>
        <p:nvSpPr>
          <p:cNvPr id="9" name="mSigHdp, SigProfiler Extractor (extracti"/>
          <p:cNvSpPr txBox="1"/>
          <p:nvPr/>
        </p:nvSpPr>
        <p:spPr>
          <a:xfrm>
            <a:off x="457200" y="265176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mSigHdp, SigProfiler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Extractor (extraction)</a:t>
            </a:r>
            <a:endParaRPr lang="en-US" sz="1000" dirty="0"/>
          </a:p>
        </p:txBody>
      </p:sp>
      <p:sp>
        <p:nvSpPr>
          <p:cNvPr id="10" name="SigProfilerAssignment + mSigAct (Mo)"/>
          <p:cNvSpPr txBox="1"/>
          <p:nvPr/>
        </p:nvSpPr>
        <p:spPr>
          <a:xfrm>
            <a:off x="457200" y="352044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SigProfilerAssignment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mSigAct (Mo)</a:t>
            </a:r>
            <a:endParaRPr lang="en-US" sz="1000" dirty="0"/>
          </a:p>
        </p:txBody>
      </p:sp>
      <p:sp>
        <p:nvSpPr>
          <p:cNvPr id="11" name="external data Degasperi 2022, Reijns 202"/>
          <p:cNvSpPr txBox="1"/>
          <p:nvPr/>
        </p:nvSpPr>
        <p:spPr>
          <a:xfrm>
            <a:off x="457200" y="438912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Degasperi 2022, Reijns 2022</a:t>
            </a:r>
            <a:endParaRPr lang="en-US" sz="1000" dirty="0"/>
          </a:p>
        </p:txBody>
      </p:sp>
      <p:sp>
        <p:nvSpPr>
          <p:cNvPr id="12" name="spectra 83 / 89 / 476 sample_info.tsv"/>
          <p:cNvSpPr txBox="1"/>
          <p:nvPr/>
        </p:nvSpPr>
        <p:spPr>
          <a:xfrm>
            <a:off x="3246120" y="178308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 83 / 89 / 476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sample_info.tsv</a:t>
            </a:r>
            <a:endParaRPr lang="en-US" sz="1000" dirty="0"/>
          </a:p>
        </p:txBody>
      </p:sp>
      <p:sp>
        <p:nvSpPr>
          <p:cNvPr id="13" name="signatures 83 / 89 / 476 connection_tabl"/>
          <p:cNvSpPr txBox="1"/>
          <p:nvPr/>
        </p:nvSpPr>
        <p:spPr>
          <a:xfrm>
            <a:off x="3246120" y="265176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83 / 89 / 476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connection_table.tsv</a:t>
            </a:r>
            <a:endParaRPr lang="en-US" sz="1000" dirty="0"/>
          </a:p>
        </p:txBody>
      </p:sp>
      <p:sp>
        <p:nvSpPr>
          <p:cNvPr id="14" name="assignments 83 / 89 (new set 2026-10-19)"/>
          <p:cNvSpPr txBox="1"/>
          <p:nvPr/>
        </p:nvSpPr>
        <p:spPr>
          <a:xfrm>
            <a:off x="3246120" y="352044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83 / 89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 set 2026-10-19)</a:t>
            </a:r>
            <a:endParaRPr lang="en-US" sz="1000" dirty="0"/>
          </a:p>
        </p:txBody>
      </p:sp>
      <p:sp>
        <p:nvSpPr>
          <p:cNvPr id="15" name="external_data/ raw extraction runs"/>
          <p:cNvSpPr txBox="1"/>
          <p:nvPr/>
        </p:nvSpPr>
        <p:spPr>
          <a:xfrm>
            <a:off x="3246120" y="438912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external_data/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extraction runs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210312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34640" y="297180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34640" y="384048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834640" y="470916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0" name="build_fig1/ … build_fig6/ build_fig_s1/ "/>
          <p:cNvSpPr txBox="1"/>
          <p:nvPr/>
        </p:nvSpPr>
        <p:spPr>
          <a:xfrm>
            <a:off x="6172200" y="178308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build_fig1/ … build_fig6/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build_fig_s1/ … build_fig_s6/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build_sup_table_s1/ … s17/</a:t>
            </a:r>
            <a:endParaRPr lang="en-US" sz="1000" dirty="0"/>
          </a:p>
        </p:txBody>
      </p:sp>
      <p:sp>
        <p:nvSpPr>
          <p:cNvPr id="21" name="ID83_ / ID89_topography_ analysis_code/ "/>
          <p:cNvSpPr txBox="1"/>
          <p:nvPr/>
        </p:nvSpPr>
        <p:spPr>
          <a:xfrm>
            <a:off x="6172200" y="301752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ID83_ / ID89_topography_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analysis_code/ (Mini)</a:t>
            </a:r>
            <a:endParaRPr lang="en-US" sz="1000" dirty="0"/>
          </a:p>
        </p:txBody>
      </p:sp>
      <p:sp>
        <p:nvSpPr>
          <p:cNvPr id="22" name="vignette/"/>
          <p:cNvSpPr txBox="1"/>
          <p:nvPr/>
        </p:nvSpPr>
        <p:spPr>
          <a:xfrm>
            <a:off x="6172200" y="384048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vignette/</a:t>
            </a:r>
            <a:endParaRPr lang="en-US" sz="1000" dirty="0"/>
          </a:p>
        </p:txBody>
      </p:sp>
      <p:sp>
        <p:nvSpPr>
          <p:cNvPr id="23" name="ms_numbers.R"/>
          <p:cNvSpPr txBox="1"/>
          <p:nvPr/>
        </p:nvSpPr>
        <p:spPr>
          <a:xfrm>
            <a:off x="6172200" y="452628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ms_numbers.R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15000" y="2103120"/>
            <a:ext cx="45720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715000" y="2971800"/>
            <a:ext cx="45720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715000" y="3840480"/>
            <a:ext cx="45720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715000" y="4709160"/>
            <a:ext cx="45720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8" name="Figures 1–6"/>
          <p:cNvSpPr txBox="1"/>
          <p:nvPr/>
        </p:nvSpPr>
        <p:spPr>
          <a:xfrm>
            <a:off x="9235440" y="178308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1–6</a:t>
            </a:r>
            <a:endParaRPr lang="en-US" sz="1100" dirty="0"/>
          </a:p>
        </p:txBody>
      </p:sp>
      <p:sp>
        <p:nvSpPr>
          <p:cNvPr id="29" name="Figures S1–S6"/>
          <p:cNvSpPr txBox="1"/>
          <p:nvPr/>
        </p:nvSpPr>
        <p:spPr>
          <a:xfrm>
            <a:off x="9235440" y="233172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S1–S6</a:t>
            </a:r>
            <a:endParaRPr lang="en-US" sz="1100" dirty="0"/>
          </a:p>
        </p:txBody>
      </p:sp>
      <p:sp>
        <p:nvSpPr>
          <p:cNvPr id="30" name="Tables S1–S17"/>
          <p:cNvSpPr txBox="1"/>
          <p:nvPr/>
        </p:nvSpPr>
        <p:spPr>
          <a:xfrm>
            <a:off x="9235440" y="288036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S1–S17</a:t>
            </a:r>
            <a:endParaRPr lang="en-US" sz="1100" dirty="0"/>
          </a:p>
        </p:txBody>
      </p:sp>
      <p:sp>
        <p:nvSpPr>
          <p:cNvPr id="31" name="indelsig.net pages"/>
          <p:cNvSpPr txBox="1"/>
          <p:nvPr/>
        </p:nvSpPr>
        <p:spPr>
          <a:xfrm>
            <a:off x="9235440" y="384048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indelsig.net pages</a:t>
            </a:r>
            <a:endParaRPr lang="en-US" sz="1100" dirty="0"/>
          </a:p>
        </p:txBody>
      </p:sp>
      <p:sp>
        <p:nvSpPr>
          <p:cNvPr id="32" name="numbers in ms.qmd"/>
          <p:cNvSpPr txBox="1"/>
          <p:nvPr/>
        </p:nvSpPr>
        <p:spPr>
          <a:xfrm>
            <a:off x="9235440" y="4526280"/>
            <a:ext cx="2514600" cy="502920"/>
          </a:xfrm>
          <a:prstGeom prst="roundRect">
            <a:avLst>
              <a:gd name="adj" fmla="val 10909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in ms.qmd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 flipV="1">
            <a:off x="8823960" y="2011680"/>
            <a:ext cx="411480" cy="274320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823960" y="2331720"/>
            <a:ext cx="411480" cy="228600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823960" y="2377440"/>
            <a:ext cx="411480" cy="731520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8823960" y="3154680"/>
            <a:ext cx="411480" cy="182880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823960" y="4096512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823960" y="4782312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457200" y="52578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4"/>
                </a:solidFill>
              </a:rPr>
              <a:t>Code finds the data with find_data.R (or UNIFIED_INDELS_DATA). The paper repo copies each built file under the same name, and check_main_figures.R, check_sup_figures.R and check_sup_tables.R flag copies that are out of date.</a:t>
            </a:r>
            <a:endParaRPr lang="en-US" sz="1200" dirty="0"/>
          </a:p>
        </p:txBody>
      </p:sp>
      <p:sp>
        <p:nvSpPr>
          <p:cNvPr id="40" name="legend script"/>
          <p:cNvSpPr txBox="1"/>
          <p:nvPr/>
        </p:nvSpPr>
        <p:spPr>
          <a:xfrm>
            <a:off x="45720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4124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Script</a:t>
            </a:r>
            <a:endParaRPr lang="en-US" sz="1000" dirty="0"/>
          </a:p>
        </p:txBody>
      </p:sp>
      <p:sp>
        <p:nvSpPr>
          <p:cNvPr id="42" name="legend data"/>
          <p:cNvSpPr txBox="1"/>
          <p:nvPr/>
        </p:nvSpPr>
        <p:spPr>
          <a:xfrm>
            <a:off x="233172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271576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Data in data repo</a:t>
            </a:r>
            <a:endParaRPr lang="en-US" sz="1000" dirty="0"/>
          </a:p>
        </p:txBody>
      </p:sp>
      <p:sp>
        <p:nvSpPr>
          <p:cNvPr id="44" name="legend other"/>
          <p:cNvSpPr txBox="1"/>
          <p:nvPr/>
        </p:nvSpPr>
        <p:spPr>
          <a:xfrm>
            <a:off x="420624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59028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Data, other folder</a:t>
            </a:r>
            <a:endParaRPr lang="en-US" sz="1000" dirty="0"/>
          </a:p>
        </p:txBody>
      </p:sp>
      <p:sp>
        <p:nvSpPr>
          <p:cNvPr id="46" name="legend output"/>
          <p:cNvSpPr txBox="1"/>
          <p:nvPr/>
        </p:nvSpPr>
        <p:spPr>
          <a:xfrm>
            <a:off x="608076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46480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Built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unified_indels_data: what each file is and who made it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54"/>
                </a:solidFill>
              </a:rPr>
              <a:t>Every build script reads these files. When one changes, the figures and tables downstream of it must be rebuilt (slide 7).</a:t>
            </a:r>
            <a:endParaRPr lang="en-US" sz="1400" dirty="0"/>
          </a:p>
        </p:txBody>
      </p:sp>
      <p:sp>
        <p:nvSpPr>
          <p:cNvPr id="4" name="HMF and PCAWG indel VCFs, clipped to rep"/>
          <p:cNvSpPr txBox="1"/>
          <p:nvPr/>
        </p:nvSpPr>
        <p:spPr>
          <a:xfrm>
            <a:off x="457200" y="146304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HMF and PCAWG indel VCFs, clipped to repeat length ≤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023360" y="173736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6" name="catalog generation"/>
          <p:cNvSpPr txBox="1"/>
          <p:nvPr/>
        </p:nvSpPr>
        <p:spPr>
          <a:xfrm>
            <a:off x="4434840" y="146304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 generation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52360" y="173736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8" name="liu_et_al_{83,89,476}_spectra.tsv"/>
          <p:cNvSpPr txBox="1"/>
          <p:nvPr/>
        </p:nvSpPr>
        <p:spPr>
          <a:xfrm>
            <a:off x="7863840" y="146304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liu_et_al_{83,89,476}_spectra.tsv</a:t>
            </a:r>
            <a:endParaRPr lang="en-US" sz="1100" dirty="0"/>
          </a:p>
        </p:txBody>
      </p:sp>
      <p:sp>
        <p:nvSpPr>
          <p:cNvPr id="9" name="Hartwig metadata, ICGC donor table, MSIs"/>
          <p:cNvSpPr txBox="1"/>
          <p:nvPr/>
        </p:nvSpPr>
        <p:spPr>
          <a:xfrm>
            <a:off x="457200" y="2176272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Hartwig metadata, ICGC donor table, MSIseq calls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2450592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1" name="build_all_meta.R (data repo)"/>
          <p:cNvSpPr txBox="1"/>
          <p:nvPr/>
        </p:nvSpPr>
        <p:spPr>
          <a:xfrm>
            <a:off x="4434840" y="2176272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build_all_meta.R (data repo)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52360" y="2450592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3" name="sample_info.tsv"/>
          <p:cNvSpPr txBox="1"/>
          <p:nvPr/>
        </p:nvSpPr>
        <p:spPr>
          <a:xfrm>
            <a:off x="7863840" y="2176272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sample_info.tsv</a:t>
            </a:r>
            <a:endParaRPr lang="en-US" sz="1100" dirty="0"/>
          </a:p>
        </p:txBody>
      </p:sp>
      <p:sp>
        <p:nvSpPr>
          <p:cNvPr id="14" name="spectra (de novo extraction)"/>
          <p:cNvSpPr txBox="1"/>
          <p:nvPr/>
        </p:nvSpPr>
        <p:spPr>
          <a:xfrm>
            <a:off x="457200" y="2889504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 (de novo extraction)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0" y="3163824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6" name="mSigHdp, SigProfilerExtractor"/>
          <p:cNvSpPr txBox="1"/>
          <p:nvPr/>
        </p:nvSpPr>
        <p:spPr>
          <a:xfrm>
            <a:off x="4434840" y="2889504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mSigHdp, SigProfilerExtractor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52360" y="3163824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8" name="liu_et_al_{83,89,476}_signatures.tsv"/>
          <p:cNvSpPr txBox="1"/>
          <p:nvPr/>
        </p:nvSpPr>
        <p:spPr>
          <a:xfrm>
            <a:off x="7863840" y="2889504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liu_et_al_{83,89,476}_signatures.tsv</a:t>
            </a:r>
            <a:endParaRPr lang="en-US" sz="1100" dirty="0"/>
          </a:p>
        </p:txBody>
      </p:sp>
      <p:sp>
        <p:nvSpPr>
          <p:cNvPr id="19" name="signatures + spectra (best-matching tumo"/>
          <p:cNvSpPr txBox="1"/>
          <p:nvPr/>
        </p:nvSpPr>
        <p:spPr>
          <a:xfrm>
            <a:off x="457200" y="3602736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+ spectra (best-matching tumors)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3360" y="3877056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1" name="make_connection_table.R"/>
          <p:cNvSpPr txBox="1"/>
          <p:nvPr/>
        </p:nvSpPr>
        <p:spPr>
          <a:xfrm>
            <a:off x="4434840" y="3602736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make_connection_table.R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52360" y="3877056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3" name="connection_table.tsv"/>
          <p:cNvSpPr txBox="1"/>
          <p:nvPr/>
        </p:nvSpPr>
        <p:spPr>
          <a:xfrm>
            <a:off x="7863840" y="3602736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connection_table.tsv</a:t>
            </a:r>
            <a:endParaRPr lang="en-US" sz="1100" dirty="0"/>
          </a:p>
        </p:txBody>
      </p:sp>
      <p:sp>
        <p:nvSpPr>
          <p:cNvPr id="24" name="172-type spectra, signatures"/>
          <p:cNvSpPr txBox="1"/>
          <p:nvPr/>
        </p:nvSpPr>
        <p:spPr>
          <a:xfrm>
            <a:off x="457200" y="4315968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172-type spectra, signatures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23360" y="4590288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6" name="SigProfilerAssignment, then mSigAct for "/>
          <p:cNvSpPr txBox="1"/>
          <p:nvPr/>
        </p:nvSpPr>
        <p:spPr>
          <a:xfrm>
            <a:off x="4434840" y="4315968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SigProfilerAssignment, then mSigAct for 731 tumors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4590288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8" name="liu_et_al_{83,89}_assignment.tsv"/>
          <p:cNvSpPr txBox="1"/>
          <p:nvPr/>
        </p:nvSpPr>
        <p:spPr>
          <a:xfrm>
            <a:off x="7863840" y="4315968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liu_et_al_{83,89}_assignment.tsv</a:t>
            </a:r>
            <a:endParaRPr lang="en-US" sz="1100" dirty="0"/>
          </a:p>
        </p:txBody>
      </p:sp>
      <p:sp>
        <p:nvSpPr>
          <p:cNvPr id="29" name="Degasperi 2022 SBS exposures; Reijns 202"/>
          <p:cNvSpPr txBox="1"/>
          <p:nvPr/>
        </p:nvSpPr>
        <p:spPr>
          <a:xfrm>
            <a:off x="457200" y="502920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Degasperi 2022 SBS exposures; Reijns 2022 spectra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23360" y="530352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31" name="downloaded"/>
          <p:cNvSpPr txBox="1"/>
          <p:nvPr/>
        </p:nvSpPr>
        <p:spPr>
          <a:xfrm>
            <a:off x="4434840" y="502920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52360" y="530352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33" name="external_data/"/>
          <p:cNvSpPr txBox="1"/>
          <p:nvPr/>
        </p:nvSpPr>
        <p:spPr>
          <a:xfrm>
            <a:off x="7863840" y="502920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external_data/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863840" y="5696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</a:rPr>
              <a:t>Mo's assignments of 2026-10-19 are in assignments_2026-10-19/ and are not yet the canonical files.</a:t>
            </a:r>
            <a:endParaRPr lang="en-US" sz="1000" dirty="0"/>
          </a:p>
        </p:txBody>
      </p:sp>
      <p:sp>
        <p:nvSpPr>
          <p:cNvPr id="35" name="legend script"/>
          <p:cNvSpPr txBox="1"/>
          <p:nvPr/>
        </p:nvSpPr>
        <p:spPr>
          <a:xfrm>
            <a:off x="45720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4124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Script</a:t>
            </a:r>
            <a:endParaRPr lang="en-US" sz="1000" dirty="0"/>
          </a:p>
        </p:txBody>
      </p:sp>
      <p:sp>
        <p:nvSpPr>
          <p:cNvPr id="37" name="legend nocode"/>
          <p:cNvSpPr txBox="1"/>
          <p:nvPr/>
        </p:nvSpPr>
        <p:spPr>
          <a:xfrm>
            <a:off x="233172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71576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Code not in repos</a:t>
            </a:r>
            <a:endParaRPr lang="en-US" sz="1000" dirty="0"/>
          </a:p>
        </p:txBody>
      </p:sp>
      <p:sp>
        <p:nvSpPr>
          <p:cNvPr id="39" name="legend data"/>
          <p:cNvSpPr txBox="1"/>
          <p:nvPr/>
        </p:nvSpPr>
        <p:spPr>
          <a:xfrm>
            <a:off x="420624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9028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Data in data repo</a:t>
            </a:r>
            <a:endParaRPr lang="en-US" sz="1000" dirty="0"/>
          </a:p>
        </p:txBody>
      </p:sp>
      <p:sp>
        <p:nvSpPr>
          <p:cNvPr id="41" name="legend other"/>
          <p:cNvSpPr txBox="1"/>
          <p:nvPr/>
        </p:nvSpPr>
        <p:spPr>
          <a:xfrm>
            <a:off x="608076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46480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Data, other folder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figures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54"/>
                </a:solidFill>
              </a:rPr>
              <a:t>Each build_figN/ writes figN.pdf. The paper's main_figures/ copies it, and main_figures_manifest.tsv records the source.</a:t>
            </a:r>
            <a:endParaRPr lang="en-US" sz="1400" dirty="0"/>
          </a:p>
        </p:txBody>
      </p:sp>
      <p:sp>
        <p:nvSpPr>
          <p:cNvPr id="4" name="signatures 83 / 89 / 476"/>
          <p:cNvSpPr txBox="1"/>
          <p:nvPr/>
        </p:nvSpPr>
        <p:spPr>
          <a:xfrm>
            <a:off x="457200" y="146304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83 / 89 / 476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023360" y="173736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6" name="build_fig1/build_fig1.R"/>
          <p:cNvSpPr txBox="1"/>
          <p:nvPr/>
        </p:nvSpPr>
        <p:spPr>
          <a:xfrm>
            <a:off x="4434840" y="146304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build_fig1/build_fig1.R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52360" y="173736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8" name="Figure 1"/>
          <p:cNvSpPr txBox="1"/>
          <p:nvPr/>
        </p:nvSpPr>
        <p:spPr>
          <a:xfrm>
            <a:off x="7863840" y="146304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</a:t>
            </a:r>
            <a:endParaRPr lang="en-US" sz="1100" dirty="0"/>
          </a:p>
        </p:txBody>
      </p:sp>
      <p:sp>
        <p:nvSpPr>
          <p:cNvPr id="9" name="liu_et_al_83_signatures.tsv"/>
          <p:cNvSpPr txBox="1"/>
          <p:nvPr/>
        </p:nvSpPr>
        <p:spPr>
          <a:xfrm>
            <a:off x="457200" y="2176272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liu_et_al_83_signatures.tsv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2450592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1" name="build_fig2/build_fig2.R"/>
          <p:cNvSpPr txBox="1"/>
          <p:nvPr/>
        </p:nvSpPr>
        <p:spPr>
          <a:xfrm>
            <a:off x="4434840" y="2176272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build_fig2/build_fig2.R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52360" y="2450592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3" name="Figure 2"/>
          <p:cNvSpPr txBox="1"/>
          <p:nvPr/>
        </p:nvSpPr>
        <p:spPr>
          <a:xfrm>
            <a:off x="7863840" y="2176272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</a:t>
            </a:r>
            <a:endParaRPr lang="en-US" sz="1100" dirty="0"/>
          </a:p>
        </p:txBody>
      </p:sp>
      <p:sp>
        <p:nvSpPr>
          <p:cNvPr id="14" name="liu_et_al_89_signatures.tsv"/>
          <p:cNvSpPr txBox="1"/>
          <p:nvPr/>
        </p:nvSpPr>
        <p:spPr>
          <a:xfrm>
            <a:off x="457200" y="2889504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liu_et_al_89_signatures.tsv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0" y="3163824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6" name="build_fig3/build_fig3.R"/>
          <p:cNvSpPr txBox="1"/>
          <p:nvPr/>
        </p:nvSpPr>
        <p:spPr>
          <a:xfrm>
            <a:off x="4434840" y="2889504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build_fig3/build_fig3.R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52360" y="3163824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8" name="Figure 3"/>
          <p:cNvSpPr txBox="1"/>
          <p:nvPr/>
        </p:nvSpPr>
        <p:spPr>
          <a:xfrm>
            <a:off x="7863840" y="2889504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</a:t>
            </a:r>
            <a:endParaRPr lang="en-US" sz="1100" dirty="0"/>
          </a:p>
        </p:txBody>
      </p:sp>
      <p:sp>
        <p:nvSpPr>
          <p:cNvPr id="19" name="assignments 83 / 89, sample_info, spectr"/>
          <p:cNvSpPr txBox="1"/>
          <p:nvPr/>
        </p:nvSpPr>
        <p:spPr>
          <a:xfrm>
            <a:off x="457200" y="3602736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83 / 89, sample_info, spectra, Degasperi SBS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3360" y="3877056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1" name="build_fig4/fig4_combined.R (enrichment +"/>
          <p:cNvSpPr txBox="1"/>
          <p:nvPr/>
        </p:nvSpPr>
        <p:spPr>
          <a:xfrm>
            <a:off x="4434840" y="3602736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build_fig4/fig4_combined.R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(enrichment + SBS-ID clustering)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52360" y="3877056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3" name="Figure 4"/>
          <p:cNvSpPr txBox="1"/>
          <p:nvPr/>
        </p:nvSpPr>
        <p:spPr>
          <a:xfrm>
            <a:off x="7863840" y="3602736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012680" y="37398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</a:rPr>
              <a:t>4A loses 3 dots, gains 1</a:t>
            </a:r>
            <a:endParaRPr lang="en-US" sz="1000" dirty="0"/>
          </a:p>
        </p:txBody>
      </p:sp>
      <p:sp>
        <p:nvSpPr>
          <p:cNvPr id="25" name="topography r.04 matrices (Mini)"/>
          <p:cNvSpPr txBox="1"/>
          <p:nvPr/>
        </p:nvSpPr>
        <p:spPr>
          <a:xfrm>
            <a:off x="457200" y="4315968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topography r.04 matrices (Mini)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23360" y="4590288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7" name="build_fig5/ (see topography deck)"/>
          <p:cNvSpPr txBox="1"/>
          <p:nvPr/>
        </p:nvSpPr>
        <p:spPr>
          <a:xfrm>
            <a:off x="4434840" y="4315968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build_fig5/ (see topography deck)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52360" y="4590288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9" name="Figure 5"/>
          <p:cNvSpPr txBox="1"/>
          <p:nvPr/>
        </p:nvSpPr>
        <p:spPr>
          <a:xfrm>
            <a:off x="7863840" y="4315968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012680" y="4453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</a:rPr>
              <a:t>needs Mo's new partial credit</a:t>
            </a:r>
            <a:endParaRPr lang="en-US" sz="1000" dirty="0"/>
          </a:p>
        </p:txBody>
      </p:sp>
      <p:sp>
        <p:nvSpPr>
          <p:cNvPr id="31" name="signatures, Reijns 2022 spectra"/>
          <p:cNvSpPr txBox="1"/>
          <p:nvPr/>
        </p:nvSpPr>
        <p:spPr>
          <a:xfrm>
            <a:off x="457200" y="502920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signatures, Reijns 2022 spectra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23360" y="530352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33" name="build_fig6/Plot signatures and motifs.qm"/>
          <p:cNvSpPr txBox="1"/>
          <p:nvPr/>
        </p:nvSpPr>
        <p:spPr>
          <a:xfrm>
            <a:off x="4434840" y="502920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build_fig6/Plot signatures and motifs.qmd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52360" y="530352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35" name="Figure 6"/>
          <p:cNvSpPr txBox="1"/>
          <p:nvPr/>
        </p:nvSpPr>
        <p:spPr>
          <a:xfrm>
            <a:off x="7863840" y="502920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</a:t>
            </a:r>
            <a:endParaRPr lang="en-US" sz="1100" dirty="0"/>
          </a:p>
        </p:txBody>
      </p:sp>
      <p:sp>
        <p:nvSpPr>
          <p:cNvPr id="36" name="legend script"/>
          <p:cNvSpPr txBox="1"/>
          <p:nvPr/>
        </p:nvSpPr>
        <p:spPr>
          <a:xfrm>
            <a:off x="45720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4124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Script</a:t>
            </a:r>
            <a:endParaRPr lang="en-US" sz="1000" dirty="0"/>
          </a:p>
        </p:txBody>
      </p:sp>
      <p:sp>
        <p:nvSpPr>
          <p:cNvPr id="38" name="legend data"/>
          <p:cNvSpPr txBox="1"/>
          <p:nvPr/>
        </p:nvSpPr>
        <p:spPr>
          <a:xfrm>
            <a:off x="233172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271576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Data in data repo</a:t>
            </a:r>
            <a:endParaRPr lang="en-US" sz="1000" dirty="0"/>
          </a:p>
        </p:txBody>
      </p:sp>
      <p:sp>
        <p:nvSpPr>
          <p:cNvPr id="40" name="legend output"/>
          <p:cNvSpPr txBox="1"/>
          <p:nvPr/>
        </p:nvSpPr>
        <p:spPr>
          <a:xfrm>
            <a:off x="420624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9028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Built output</a:t>
            </a:r>
            <a:endParaRPr lang="en-US" sz="1000" dirty="0"/>
          </a:p>
        </p:txBody>
      </p:sp>
      <p:sp>
        <p:nvSpPr>
          <p:cNvPr id="42" name="legend stale"/>
          <p:cNvSpPr txBox="1"/>
          <p:nvPr/>
        </p:nvSpPr>
        <p:spPr>
          <a:xfrm>
            <a:off x="608076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46480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Changes with new set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Supplementary figures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54"/>
                </a:solidFill>
              </a:rPr>
              <a:t>Figures S2 and S5 are edited by hand from a _draft source. sup_figures_manifest.tsv maps each one to its source.</a:t>
            </a:r>
            <a:endParaRPr lang="en-US" sz="1400" dirty="0"/>
          </a:p>
        </p:txBody>
      </p:sp>
      <p:sp>
        <p:nvSpPr>
          <p:cNvPr id="4" name="assignments, signatures, spectra, sample"/>
          <p:cNvSpPr txBox="1"/>
          <p:nvPr/>
        </p:nvSpPr>
        <p:spPr>
          <a:xfrm>
            <a:off x="457200" y="146304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assignments, signatures, spectra, sample_info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023360" y="173736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6" name="build_fig_s1/Signature Assignment.qmd"/>
          <p:cNvSpPr txBox="1"/>
          <p:nvPr/>
        </p:nvSpPr>
        <p:spPr>
          <a:xfrm>
            <a:off x="4434840" y="146304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build_fig_s1/Signature Assignment.qmd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52360" y="173736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8" name="Figure S1"/>
          <p:cNvSpPr txBox="1"/>
          <p:nvPr/>
        </p:nvSpPr>
        <p:spPr>
          <a:xfrm>
            <a:off x="7863840" y="146304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S1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1268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</a:rPr>
              <a:t>colors and dots change</a:t>
            </a:r>
            <a:endParaRPr lang="en-US" sz="1000" dirty="0"/>
          </a:p>
        </p:txBody>
      </p:sp>
      <p:sp>
        <p:nvSpPr>
          <p:cNvPr id="10" name="Tables S2, S4, S6 signatures"/>
          <p:cNvSpPr txBox="1"/>
          <p:nvPr/>
        </p:nvSpPr>
        <p:spPr>
          <a:xfrm>
            <a:off x="457200" y="2176272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S2, S4, S6 signatures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2450592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2" name="build_fig_s2/make_figure_s2_layout.R"/>
          <p:cNvSpPr txBox="1"/>
          <p:nvPr/>
        </p:nvSpPr>
        <p:spPr>
          <a:xfrm>
            <a:off x="4434840" y="2176272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build_fig_s2/make_figure_s2_layout.R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52360" y="2450592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4" name="Figure S2"/>
          <p:cNvSpPr txBox="1"/>
          <p:nvPr/>
        </p:nvSpPr>
        <p:spPr>
          <a:xfrm>
            <a:off x="7863840" y="2176272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5F8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S2</a:t>
            </a:r>
            <a:endParaRPr lang="en-US" sz="1100" dirty="0"/>
          </a:p>
        </p:txBody>
      </p:sp>
      <p:sp>
        <p:nvSpPr>
          <p:cNvPr id="15" name="topography Fisher tests (r.05, r.06)"/>
          <p:cNvSpPr txBox="1"/>
          <p:nvPr/>
        </p:nvSpPr>
        <p:spPr>
          <a:xfrm>
            <a:off x="457200" y="2889504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topography Fisher tests (r.05, r.06)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23360" y="3163824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7" name="build_fig_s3/r.08_bubbleplot.R"/>
          <p:cNvSpPr txBox="1"/>
          <p:nvPr/>
        </p:nvSpPr>
        <p:spPr>
          <a:xfrm>
            <a:off x="4434840" y="2889504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build_fig_s3/r.08_bubbleplot.R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52360" y="3163824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9" name="Figure S3"/>
          <p:cNvSpPr txBox="1"/>
          <p:nvPr/>
        </p:nvSpPr>
        <p:spPr>
          <a:xfrm>
            <a:off x="7863840" y="2889504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S3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12680" y="3026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</a:rPr>
              <a:t>needs new partial credit</a:t>
            </a:r>
            <a:endParaRPr lang="en-US" sz="1000" dirty="0"/>
          </a:p>
        </p:txBody>
      </p:sp>
      <p:sp>
        <p:nvSpPr>
          <p:cNvPr id="21" name="replication-timing trends (r.09)"/>
          <p:cNvSpPr txBox="1"/>
          <p:nvPr/>
        </p:nvSpPr>
        <p:spPr>
          <a:xfrm>
            <a:off x="457200" y="3602736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replication-timing trends (r.09)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23360" y="3877056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3" name="build_fig_s4/r.09_barplot_final.R"/>
          <p:cNvSpPr txBox="1"/>
          <p:nvPr/>
        </p:nvSpPr>
        <p:spPr>
          <a:xfrm>
            <a:off x="4434840" y="3602736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build_fig_s4/r.09_barplot_final.R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52360" y="3877056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5" name="Figure S4"/>
          <p:cNvSpPr txBox="1"/>
          <p:nvPr/>
        </p:nvSpPr>
        <p:spPr>
          <a:xfrm>
            <a:off x="7863840" y="3602736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S4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012680" y="37398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</a:rPr>
              <a:t>needs new partial credit</a:t>
            </a:r>
            <a:endParaRPr lang="en-US" sz="1000" dirty="0"/>
          </a:p>
        </p:txBody>
      </p:sp>
      <p:sp>
        <p:nvSpPr>
          <p:cNvPr id="27" name="Reijns 2022 spectra"/>
          <p:cNvSpPr txBox="1"/>
          <p:nvPr/>
        </p:nvSpPr>
        <p:spPr>
          <a:xfrm>
            <a:off x="457200" y="4315968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Reijns 2022 spectra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023360" y="4590288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9" name="build_fig_s5/make_figure_s5_layout.R"/>
          <p:cNvSpPr txBox="1"/>
          <p:nvPr/>
        </p:nvSpPr>
        <p:spPr>
          <a:xfrm>
            <a:off x="4434840" y="4315968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build_fig_s5/make_figure_s5_layout.R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52360" y="4590288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31" name="Figure S5"/>
          <p:cNvSpPr txBox="1"/>
          <p:nvPr/>
        </p:nvSpPr>
        <p:spPr>
          <a:xfrm>
            <a:off x="7863840" y="4315968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5F8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S5</a:t>
            </a:r>
            <a:endParaRPr lang="en-US" sz="1100" dirty="0"/>
          </a:p>
        </p:txBody>
      </p:sp>
      <p:sp>
        <p:nvSpPr>
          <p:cNvPr id="32" name="assignments, sample_info"/>
          <p:cNvSpPr txBox="1"/>
          <p:nvPr/>
        </p:nvSpPr>
        <p:spPr>
          <a:xfrm>
            <a:off x="457200" y="502920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assignments, sample_info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23360" y="530352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34" name="build_fig_s6/build_fig_s6_stats.R + make"/>
          <p:cNvSpPr txBox="1"/>
          <p:nvPr/>
        </p:nvSpPr>
        <p:spPr>
          <a:xfrm>
            <a:off x="4434840" y="502920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build_fig_s6/build_fig_s6_stats.R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make_figure_s6_layout.R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52360" y="530352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36" name="Figure S6"/>
          <p:cNvSpPr txBox="1"/>
          <p:nvPr/>
        </p:nvSpPr>
        <p:spPr>
          <a:xfrm>
            <a:off x="7863840" y="502920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S6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012680" y="5166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</a:rPr>
              <a:t>sex hits change</a:t>
            </a:r>
            <a:endParaRPr lang="en-US" sz="1000" dirty="0"/>
          </a:p>
        </p:txBody>
      </p:sp>
      <p:sp>
        <p:nvSpPr>
          <p:cNvPr id="38" name="legend script"/>
          <p:cNvSpPr txBox="1"/>
          <p:nvPr/>
        </p:nvSpPr>
        <p:spPr>
          <a:xfrm>
            <a:off x="45720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4124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Script</a:t>
            </a:r>
            <a:endParaRPr lang="en-US" sz="1000" dirty="0"/>
          </a:p>
        </p:txBody>
      </p:sp>
      <p:sp>
        <p:nvSpPr>
          <p:cNvPr id="40" name="legend data"/>
          <p:cNvSpPr txBox="1"/>
          <p:nvPr/>
        </p:nvSpPr>
        <p:spPr>
          <a:xfrm>
            <a:off x="233172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271576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Data in data repo</a:t>
            </a:r>
            <a:endParaRPr lang="en-US" sz="1000" dirty="0"/>
          </a:p>
        </p:txBody>
      </p:sp>
      <p:sp>
        <p:nvSpPr>
          <p:cNvPr id="42" name="legend output"/>
          <p:cNvSpPr txBox="1"/>
          <p:nvPr/>
        </p:nvSpPr>
        <p:spPr>
          <a:xfrm>
            <a:off x="420624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59028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Built output</a:t>
            </a:r>
            <a:endParaRPr lang="en-US" sz="1000" dirty="0"/>
          </a:p>
        </p:txBody>
      </p:sp>
      <p:sp>
        <p:nvSpPr>
          <p:cNvPr id="44" name="legend stale"/>
          <p:cNvSpPr txBox="1"/>
          <p:nvPr/>
        </p:nvSpPr>
        <p:spPr>
          <a:xfrm>
            <a:off x="608076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46480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Changes with new set</a:t>
            </a:r>
            <a:endParaRPr lang="en-US" sz="1000" dirty="0"/>
          </a:p>
        </p:txBody>
      </p:sp>
      <p:sp>
        <p:nvSpPr>
          <p:cNvPr id="46" name="legend hand"/>
          <p:cNvSpPr txBox="1"/>
          <p:nvPr/>
        </p:nvSpPr>
        <p:spPr>
          <a:xfrm>
            <a:off x="795528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1F5F8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833932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Edited by hand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Supplementary tables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54"/>
                </a:solidFill>
              </a:rPr>
              <a:t>sup_tables_manifest.tsv maps each table to its source, and check_sup_tables.R compares them cell by cell.</a:t>
            </a:r>
            <a:endParaRPr lang="en-US" sz="1400" dirty="0"/>
          </a:p>
        </p:txBody>
      </p:sp>
      <p:sp>
        <p:nvSpPr>
          <p:cNvPr id="4" name="HMF and PCAWG annotated VCFs"/>
          <p:cNvSpPr txBox="1"/>
          <p:nvPr/>
        </p:nvSpPr>
        <p:spPr>
          <a:xfrm>
            <a:off x="457200" y="137160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HMF and PCAWG annotated VCFs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023360" y="160020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6" name="build_sup_table_s1/ (3 steps)"/>
          <p:cNvSpPr txBox="1"/>
          <p:nvPr/>
        </p:nvSpPr>
        <p:spPr>
          <a:xfrm>
            <a:off x="4434840" y="137160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build_sup_table_s1/ (3 steps)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52360" y="160020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8" name="Table S1"/>
          <p:cNvSpPr txBox="1"/>
          <p:nvPr/>
        </p:nvSpPr>
        <p:spPr>
          <a:xfrm>
            <a:off x="7863840" y="137160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S1</a:t>
            </a:r>
            <a:endParaRPr lang="en-US" sz="1100" dirty="0"/>
          </a:p>
        </p:txBody>
      </p:sp>
      <p:sp>
        <p:nvSpPr>
          <p:cNvPr id="9" name="raw extraction runs, signatures"/>
          <p:cNvSpPr txBox="1"/>
          <p:nvPr/>
        </p:nvSpPr>
        <p:spPr>
          <a:xfrm>
            <a:off x="457200" y="192024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extraction runs, signatures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214884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1" name="build_sup_table_s2/ … s8/"/>
          <p:cNvSpPr txBox="1"/>
          <p:nvPr/>
        </p:nvSpPr>
        <p:spPr>
          <a:xfrm>
            <a:off x="4434840" y="192024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build_sup_table_s2/ … s8/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52360" y="214884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3" name="Tables S2–S8"/>
          <p:cNvSpPr txBox="1"/>
          <p:nvPr/>
        </p:nvSpPr>
        <p:spPr>
          <a:xfrm>
            <a:off x="7863840" y="192024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S2–S8</a:t>
            </a:r>
            <a:endParaRPr lang="en-US" sz="1100" dirty="0"/>
          </a:p>
        </p:txBody>
      </p:sp>
      <p:sp>
        <p:nvSpPr>
          <p:cNvPr id="14" name="89 assignment + spectra, coding variants"/>
          <p:cNvSpPr txBox="1"/>
          <p:nvPr/>
        </p:nvSpPr>
        <p:spPr>
          <a:xfrm>
            <a:off x="457200" y="246888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assignment + spectra, coding variants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0" y="269748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6" name="build_sup_table_s9/…pol_proofreading.R"/>
          <p:cNvSpPr txBox="1"/>
          <p:nvPr/>
        </p:nvSpPr>
        <p:spPr>
          <a:xfrm>
            <a:off x="4434840" y="246888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build_sup_table_s9/…pol_proofreading.R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52360" y="269748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8" name="Table S9"/>
          <p:cNvSpPr txBox="1"/>
          <p:nvPr/>
        </p:nvSpPr>
        <p:spPr>
          <a:xfrm>
            <a:off x="7863840" y="24688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S9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01268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</a:rPr>
              <a:t>17 dominant signatures change</a:t>
            </a:r>
            <a:endParaRPr lang="en-US" sz="1000" dirty="0"/>
          </a:p>
        </p:txBody>
      </p:sp>
      <p:sp>
        <p:nvSpPr>
          <p:cNvPr id="20" name="89 assignment, sample_info, Table S9"/>
          <p:cNvSpPr txBox="1"/>
          <p:nvPr/>
        </p:nvSpPr>
        <p:spPr>
          <a:xfrm>
            <a:off x="457200" y="301752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assignment, sample_info, Table S9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23360" y="324612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2" name="build_sup_table_s10/"/>
          <p:cNvSpPr txBox="1"/>
          <p:nvPr/>
        </p:nvSpPr>
        <p:spPr>
          <a:xfrm>
            <a:off x="4434840" y="301752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build_sup_table_s10/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52360" y="324612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4" name="Table S10"/>
          <p:cNvSpPr txBox="1"/>
          <p:nvPr/>
        </p:nvSpPr>
        <p:spPr>
          <a:xfrm>
            <a:off x="7863840" y="30175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S10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1268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</a:rPr>
              <a:t>counts change</a:t>
            </a:r>
            <a:endParaRPr lang="en-US" sz="1000" dirty="0"/>
          </a:p>
        </p:txBody>
      </p:sp>
      <p:sp>
        <p:nvSpPr>
          <p:cNvPr id="26" name="89 assignment, connection_table"/>
          <p:cNvSpPr txBox="1"/>
          <p:nvPr/>
        </p:nvSpPr>
        <p:spPr>
          <a:xfrm>
            <a:off x="457200" y="356616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assignment, connection_table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023360" y="379476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8" name="build_sup_table_s11/"/>
          <p:cNvSpPr txBox="1"/>
          <p:nvPr/>
        </p:nvSpPr>
        <p:spPr>
          <a:xfrm>
            <a:off x="4434840" y="356616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build_sup_table_s11/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52360" y="379476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30" name="Table S11"/>
          <p:cNvSpPr txBox="1"/>
          <p:nvPr/>
        </p:nvSpPr>
        <p:spPr>
          <a:xfrm>
            <a:off x="7863840" y="35661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S11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01268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</a:rPr>
              <a:t>819 tumors change</a:t>
            </a:r>
            <a:endParaRPr lang="en-US" sz="1000" dirty="0"/>
          </a:p>
        </p:txBody>
      </p:sp>
      <p:sp>
        <p:nvSpPr>
          <p:cNvPr id="32" name="topography r.05, r.06, r.09 outputs"/>
          <p:cNvSpPr txBox="1"/>
          <p:nvPr/>
        </p:nvSpPr>
        <p:spPr>
          <a:xfrm>
            <a:off x="457200" y="411480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topography r.05, r.06, r.09 outputs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23360" y="434340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34" name="build_sup_table_s12/ … s14/"/>
          <p:cNvSpPr txBox="1"/>
          <p:nvPr/>
        </p:nvSpPr>
        <p:spPr>
          <a:xfrm>
            <a:off x="4434840" y="411480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build_sup_table_s12/ … s14/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52360" y="434340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36" name="Tables S12–S14"/>
          <p:cNvSpPr txBox="1"/>
          <p:nvPr/>
        </p:nvSpPr>
        <p:spPr>
          <a:xfrm>
            <a:off x="7863840" y="411480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S12–S14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01268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</a:rPr>
              <a:t>needs new partial credit</a:t>
            </a:r>
            <a:endParaRPr lang="en-US" sz="1000" dirty="0"/>
          </a:p>
        </p:txBody>
      </p:sp>
      <p:sp>
        <p:nvSpPr>
          <p:cNvPr id="38" name="build_fig_s6/*.txt"/>
          <p:cNvSpPr txBox="1"/>
          <p:nvPr/>
        </p:nvSpPr>
        <p:spPr>
          <a:xfrm>
            <a:off x="457200" y="466344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build_fig_s6/*.txt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023360" y="489204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40" name="build_sup_table_s15/, s16/"/>
          <p:cNvSpPr txBox="1"/>
          <p:nvPr/>
        </p:nvSpPr>
        <p:spPr>
          <a:xfrm>
            <a:off x="4434840" y="466344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build_sup_table_s15/, s16/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52360" y="489204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42" name="Tables S15, S16"/>
          <p:cNvSpPr txBox="1"/>
          <p:nvPr/>
        </p:nvSpPr>
        <p:spPr>
          <a:xfrm>
            <a:off x="7863840" y="466344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S15, S16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0012680" y="4754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</a:rPr>
              <a:t>hits change</a:t>
            </a:r>
            <a:endParaRPr lang="en-US" sz="1000" dirty="0"/>
          </a:p>
        </p:txBody>
      </p:sp>
      <p:sp>
        <p:nvSpPr>
          <p:cNvPr id="44" name="sample_info, 83 spectra"/>
          <p:cNvSpPr txBox="1"/>
          <p:nvPr/>
        </p:nvSpPr>
        <p:spPr>
          <a:xfrm>
            <a:off x="457200" y="521208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sample_info, 83 spectra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023360" y="544068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46" name="build_sup_table_s17/"/>
          <p:cNvSpPr txBox="1"/>
          <p:nvPr/>
        </p:nvSpPr>
        <p:spPr>
          <a:xfrm>
            <a:off x="4434840" y="521208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build_sup_table_s17/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452360" y="5440680"/>
            <a:ext cx="41148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48" name="Table S17"/>
          <p:cNvSpPr txBox="1"/>
          <p:nvPr/>
        </p:nvSpPr>
        <p:spPr>
          <a:xfrm>
            <a:off x="7863840" y="52120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S17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0012680" y="5303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5F8B"/>
                </a:solidFill>
              </a:rPr>
              <a:t>unchanged</a:t>
            </a:r>
            <a:endParaRPr lang="en-US" sz="1000" dirty="0"/>
          </a:p>
        </p:txBody>
      </p:sp>
      <p:sp>
        <p:nvSpPr>
          <p:cNvPr id="50" name="legend script"/>
          <p:cNvSpPr txBox="1"/>
          <p:nvPr/>
        </p:nvSpPr>
        <p:spPr>
          <a:xfrm>
            <a:off x="45720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4124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Script</a:t>
            </a:r>
            <a:endParaRPr lang="en-US" sz="1000" dirty="0"/>
          </a:p>
        </p:txBody>
      </p:sp>
      <p:sp>
        <p:nvSpPr>
          <p:cNvPr id="52" name="legend data"/>
          <p:cNvSpPr txBox="1"/>
          <p:nvPr/>
        </p:nvSpPr>
        <p:spPr>
          <a:xfrm>
            <a:off x="233172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271576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Data in data repo</a:t>
            </a:r>
            <a:endParaRPr lang="en-US" sz="1000" dirty="0"/>
          </a:p>
        </p:txBody>
      </p:sp>
      <p:sp>
        <p:nvSpPr>
          <p:cNvPr id="54" name="legend other"/>
          <p:cNvSpPr txBox="1"/>
          <p:nvPr/>
        </p:nvSpPr>
        <p:spPr>
          <a:xfrm>
            <a:off x="420624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459028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Data, other folder</a:t>
            </a:r>
            <a:endParaRPr lang="en-US" sz="1000" dirty="0"/>
          </a:p>
        </p:txBody>
      </p:sp>
      <p:sp>
        <p:nvSpPr>
          <p:cNvPr id="56" name="legend output"/>
          <p:cNvSpPr txBox="1"/>
          <p:nvPr/>
        </p:nvSpPr>
        <p:spPr>
          <a:xfrm>
            <a:off x="608076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46480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Built output</a:t>
            </a:r>
            <a:endParaRPr lang="en-US" sz="1000" dirty="0"/>
          </a:p>
        </p:txBody>
      </p:sp>
      <p:sp>
        <p:nvSpPr>
          <p:cNvPr id="58" name="legend stale"/>
          <p:cNvSpPr txBox="1"/>
          <p:nvPr/>
        </p:nvSpPr>
        <p:spPr>
          <a:xfrm>
            <a:off x="795528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833932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Changes with new set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Vignette: the indelsig.net signature pages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54"/>
                </a:solidFill>
              </a:rPr>
              <a:t>vignette/ computes everything once, caches it, and renders one self-contained page per signature. Xueming puts the pages on the Shiny server.</a:t>
            </a:r>
            <a:endParaRPr lang="en-US" sz="1400" dirty="0"/>
          </a:p>
        </p:txBody>
      </p:sp>
      <p:sp>
        <p:nvSpPr>
          <p:cNvPr id="4" name="signatures 83 / 89 / 476 spectra 83 / 89"/>
          <p:cNvSpPr txBox="1"/>
          <p:nvPr/>
        </p:nvSpPr>
        <p:spPr>
          <a:xfrm>
            <a:off x="457200" y="2103120"/>
            <a:ext cx="2926080" cy="1188720"/>
          </a:xfrm>
          <a:prstGeom prst="roundRect">
            <a:avLst>
              <a:gd name="adj" fmla="val 4615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83 / 89 / 476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 83 / 89 / 476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connection_table.tsv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ID476_ID89_mapping.txt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per_sig_txt/</a:t>
            </a:r>
            <a:endParaRPr lang="en-US" sz="1000" dirty="0"/>
          </a:p>
        </p:txBody>
      </p:sp>
      <p:sp>
        <p:nvSpPr>
          <p:cNvPr id="5" name="vignette.qmd"/>
          <p:cNvSpPr txBox="1"/>
          <p:nvPr/>
        </p:nvSpPr>
        <p:spPr>
          <a:xfrm>
            <a:off x="3931920" y="237744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vignette.qmd</a:t>
            </a:r>
            <a:endParaRPr lang="en-US" sz="1100" dirty="0"/>
          </a:p>
        </p:txBody>
      </p:sp>
      <p:sp>
        <p:nvSpPr>
          <p:cNvPr id="6" name="figure/standalone_data/ all_sig_data.rds"/>
          <p:cNvSpPr txBox="1"/>
          <p:nvPr/>
        </p:nvSpPr>
        <p:spPr>
          <a:xfrm>
            <a:off x="3931920" y="347472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figure/standalone_data/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all_sig_data.rds</a:t>
            </a:r>
            <a:endParaRPr lang="en-US" sz="1000" dirty="0"/>
          </a:p>
        </p:txBody>
      </p:sp>
      <p:sp>
        <p:nvSpPr>
          <p:cNvPr id="7" name="render_separate_pages.R (onesig_standalo"/>
          <p:cNvSpPr txBox="1"/>
          <p:nvPr/>
        </p:nvSpPr>
        <p:spPr>
          <a:xfrm>
            <a:off x="6858000" y="237744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render_separate_pages.R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(onesig_standalone.qmd)</a:t>
            </a:r>
            <a:endParaRPr lang="en-US" sz="1000" dirty="0"/>
          </a:p>
        </p:txBody>
      </p:sp>
      <p:sp>
        <p:nvSpPr>
          <p:cNvPr id="8" name="render_overview_table.R"/>
          <p:cNvSpPr txBox="1"/>
          <p:nvPr/>
        </p:nvSpPr>
        <p:spPr>
          <a:xfrm>
            <a:off x="6858000" y="347472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render_overview_table.R</a:t>
            </a:r>
            <a:endParaRPr lang="en-US" sz="1000" dirty="0"/>
          </a:p>
        </p:txBody>
      </p:sp>
      <p:sp>
        <p:nvSpPr>
          <p:cNvPr id="9" name="44 signature pages"/>
          <p:cNvSpPr txBox="1"/>
          <p:nvPr/>
        </p:nvSpPr>
        <p:spPr>
          <a:xfrm>
            <a:off x="9692640" y="2377440"/>
            <a:ext cx="2057400" cy="640080"/>
          </a:xfrm>
          <a:prstGeom prst="roundRect">
            <a:avLst>
              <a:gd name="adj" fmla="val 8571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signature pages</a:t>
            </a:r>
            <a:endParaRPr lang="en-US" sz="1100" dirty="0"/>
          </a:p>
        </p:txBody>
      </p:sp>
      <p:sp>
        <p:nvSpPr>
          <p:cNvPr id="10" name="overview_table.html"/>
          <p:cNvSpPr txBox="1"/>
          <p:nvPr/>
        </p:nvSpPr>
        <p:spPr>
          <a:xfrm>
            <a:off x="9692640" y="3474720"/>
            <a:ext cx="2057400" cy="640080"/>
          </a:xfrm>
          <a:prstGeom prst="roundRect">
            <a:avLst>
              <a:gd name="adj" fmla="val 8571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overview_table.html</a:t>
            </a:r>
            <a:endParaRPr lang="en-US" sz="1100" dirty="0"/>
          </a:p>
        </p:txBody>
      </p:sp>
      <p:sp>
        <p:nvSpPr>
          <p:cNvPr id="11" name="combined HTML + PDF"/>
          <p:cNvSpPr txBox="1"/>
          <p:nvPr/>
        </p:nvSpPr>
        <p:spPr>
          <a:xfrm>
            <a:off x="3931920" y="155448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HTML + PDF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2697480"/>
            <a:ext cx="54864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3017520"/>
            <a:ext cx="914" cy="457200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5120640" y="2057400"/>
            <a:ext cx="914" cy="320040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6309360" y="2697480"/>
            <a:ext cx="548640" cy="1097280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09360" y="3794760"/>
            <a:ext cx="54864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35440" y="2697480"/>
            <a:ext cx="45720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35440" y="3794760"/>
            <a:ext cx="45720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9" name="Shiny server copy (updated 2026-10-19)"/>
          <p:cNvSpPr txBox="1"/>
          <p:nvPr/>
        </p:nvSpPr>
        <p:spPr>
          <a:xfrm>
            <a:off x="9692640" y="4480560"/>
            <a:ext cx="2057400" cy="548640"/>
          </a:xfrm>
          <a:prstGeom prst="roundRect">
            <a:avLst>
              <a:gd name="adj" fmla="val 10000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server copy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(updated 2026-10-19)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716768" y="4114800"/>
            <a:ext cx="914" cy="365760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57200" y="52578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B4A54"/>
                </a:solidFill>
              </a:rPr>
              <a:t>The vignette does not read the assignments. Rerendered with the new set on 2026-10-22: Table 1 and the pages have the same content.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B4A54"/>
                </a:solidFill>
              </a:rPr>
              <a:t>Rebuild: quarto render vignette/vignette.qmd, then the two render scripts, then send separate_pages/ to Xueming.</a:t>
            </a:r>
            <a:endParaRPr lang="en-US" sz="1200" dirty="0"/>
          </a:p>
        </p:txBody>
      </p:sp>
      <p:sp>
        <p:nvSpPr>
          <p:cNvPr id="22" name="legend script"/>
          <p:cNvSpPr txBox="1"/>
          <p:nvPr/>
        </p:nvSpPr>
        <p:spPr>
          <a:xfrm>
            <a:off x="45720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Script</a:t>
            </a:r>
            <a:endParaRPr lang="en-US" sz="1000" dirty="0"/>
          </a:p>
        </p:txBody>
      </p:sp>
      <p:sp>
        <p:nvSpPr>
          <p:cNvPr id="24" name="legend data"/>
          <p:cNvSpPr txBox="1"/>
          <p:nvPr/>
        </p:nvSpPr>
        <p:spPr>
          <a:xfrm>
            <a:off x="233172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71576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Data in data repo</a:t>
            </a:r>
            <a:endParaRPr lang="en-US" sz="1000" dirty="0"/>
          </a:p>
        </p:txBody>
      </p:sp>
      <p:sp>
        <p:nvSpPr>
          <p:cNvPr id="26" name="legend output"/>
          <p:cNvSpPr txBox="1"/>
          <p:nvPr/>
        </p:nvSpPr>
        <p:spPr>
          <a:xfrm>
            <a:off x="420624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Built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Mo's assignments of 2026-10-19 change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54"/>
                </a:solidFill>
              </a:rPr>
              <a:t>Rerun on 2026-10-22 in a separate worktree. The canonical assignment files and the paper are unchanged until we adopt the new set.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819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54"/>
                </a:solidFill>
              </a:rPr>
              <a:t>tumors with changed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4A54"/>
                </a:solidFill>
              </a:rPr>
              <a:t>exposures (Mo: 784)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54"/>
                </a:solidFill>
              </a:rPr>
              <a:t>tumors fit with mSigAct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4A54"/>
                </a:solidFill>
              </a:rPr>
              <a:t>(was 1,535)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194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54"/>
                </a:solidFill>
              </a:rPr>
              <a:t>Table S11 columns still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4A54"/>
                </a:solidFill>
              </a:rPr>
              <a:t>single-counted (was 501)</a:t>
            </a:r>
            <a:endParaRPr lang="en-US" sz="1100" dirty="0"/>
          </a:p>
        </p:txBody>
      </p:sp>
      <p:sp>
        <p:nvSpPr>
          <p:cNvPr id="10" name="Figure 4A"/>
          <p:cNvSpPr txBox="1"/>
          <p:nvPr/>
        </p:nvSpPr>
        <p:spPr>
          <a:xfrm>
            <a:off x="6400800" y="141732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1417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InsDel4 and InsDel10 in CNS and InsDel_N_beta in Lymphoid drop out; InsDel2c in Lymphoid appears</a:t>
            </a:r>
            <a:endParaRPr lang="en-US" sz="1000" dirty="0"/>
          </a:p>
        </p:txBody>
      </p:sp>
      <p:sp>
        <p:nvSpPr>
          <p:cNvPr id="12" name="Figure 4B"/>
          <p:cNvSpPr txBox="1"/>
          <p:nvPr/>
        </p:nvSpPr>
        <p:spPr>
          <a:xfrm>
            <a:off x="6400800" y="196596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4B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1965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Clusters reorder. Quoted correlations hardly move (InsDel1b–SBS10a 0.29 → 0.28)</a:t>
            </a:r>
            <a:endParaRPr lang="en-US" sz="1000" dirty="0"/>
          </a:p>
        </p:txBody>
      </p:sp>
      <p:sp>
        <p:nvSpPr>
          <p:cNvPr id="14" name="Figure S1"/>
          <p:cNvSpPr txBox="1"/>
          <p:nvPr/>
        </p:nvSpPr>
        <p:spPr>
          <a:xfrm>
            <a:off x="6400800" y="251460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S1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5146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Same 6,516 well-fit tumors as Mo's list; exposure color scale shifts</a:t>
            </a:r>
            <a:endParaRPr lang="en-US" sz="1000" dirty="0"/>
          </a:p>
        </p:txBody>
      </p:sp>
      <p:sp>
        <p:nvSpPr>
          <p:cNvPr id="16" name="Table S9"/>
          <p:cNvSpPr txBox="1"/>
          <p:nvPr/>
        </p:nvSpPr>
        <p:spPr>
          <a:xfrm>
            <a:off x="6400800" y="306324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S9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30632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Dominant signature changes for 17 of 248 tumors (InsDel7: 128 → 137)</a:t>
            </a:r>
            <a:endParaRPr lang="en-US" sz="1000" dirty="0"/>
          </a:p>
        </p:txBody>
      </p:sp>
      <p:sp>
        <p:nvSpPr>
          <p:cNvPr id="18" name="Table S10"/>
          <p:cNvSpPr txBox="1"/>
          <p:nvPr/>
        </p:nvSpPr>
        <p:spPr>
          <a:xfrm>
            <a:off x="6400800" y="361188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S10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36118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MSS InsDel_N_beta 2,629 → 2,409; InsDel1a without N_beta 2,596 → 2,724</a:t>
            </a:r>
            <a:endParaRPr lang="en-US" sz="1000" dirty="0"/>
          </a:p>
        </p:txBody>
      </p:sp>
      <p:sp>
        <p:nvSpPr>
          <p:cNvPr id="20" name="Table S15"/>
          <p:cNvSpPr txBox="1"/>
          <p:nvPr/>
        </p:nvSpPr>
        <p:spPr>
          <a:xfrm>
            <a:off x="6400800" y="416052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S15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41605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10 sex hits stay 10, but 5 instead of 6 pairs; Pancreas C_ID12/InsDel12 (q = 0.014) new; Other and Lymphoid hits gone</a:t>
            </a:r>
            <a:endParaRPr lang="en-US" sz="1000" dirty="0"/>
          </a:p>
        </p:txBody>
      </p:sp>
      <p:sp>
        <p:nvSpPr>
          <p:cNvPr id="22" name="Table S16"/>
          <p:cNvSpPr txBox="1"/>
          <p:nvPr/>
        </p:nvSpPr>
        <p:spPr>
          <a:xfrm>
            <a:off x="6400800" y="470916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S16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7091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Most age hits hold; InsDel4/C_ID4 now significant in breast and colon</a:t>
            </a:r>
            <a:endParaRPr lang="en-US" sz="1000" dirty="0"/>
          </a:p>
        </p:txBody>
      </p:sp>
      <p:sp>
        <p:nvSpPr>
          <p:cNvPr id="24" name="Topography"/>
          <p:cNvSpPr txBox="1"/>
          <p:nvPr/>
        </p:nvSpPr>
        <p:spPr>
          <a:xfrm>
            <a:off x="6400800" y="525780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Topography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52578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Mo will redo partial credit; then Fig 5, S3, S4, Tables S12–S14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10896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4A54"/>
                </a:solidFill>
              </a:rPr>
              <a:t>Table S17 does not change. The methods text (5,440 + 1,535 tumors, routing rule) and the sex and age paragraphs must be revised when we adopt the new set.</a:t>
            </a:r>
            <a:endParaRPr lang="en-US" sz="1300" dirty="0"/>
          </a:p>
        </p:txBody>
      </p:sp>
      <p:sp>
        <p:nvSpPr>
          <p:cNvPr id="27" name="legend stale"/>
          <p:cNvSpPr txBox="1"/>
          <p:nvPr/>
        </p:nvSpPr>
        <p:spPr>
          <a:xfrm>
            <a:off x="45720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Changes with new set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manuscript in sync with the code</a:t>
            </a:r>
            <a:endParaRPr lang="en-US" sz="28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54"/>
                </a:solidFill>
              </a:rPr>
              <a:t>Numbers come from the built tables through ms_numbers.R, and three check scripts flag stale copies at render time.</a:t>
            </a:r>
            <a:endParaRPr lang="en-US" sz="1400" dirty="0"/>
          </a:p>
        </p:txBody>
      </p:sp>
      <p:sp>
        <p:nvSpPr>
          <p:cNvPr id="4" name="Table S10 Table S15 fig4b_sbs_id_correla"/>
          <p:cNvSpPr txBox="1"/>
          <p:nvPr/>
        </p:nvSpPr>
        <p:spPr>
          <a:xfrm>
            <a:off x="457200" y="1645920"/>
            <a:ext cx="2743200" cy="2011680"/>
          </a:xfrm>
          <a:prstGeom prst="roundRect">
            <a:avLst>
              <a:gd name="adj" fmla="val 2727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S10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S15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fig4b_sbs_id_correlations.tsv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build_fig5/*.cancer_proportion.xlsx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signatures, connection_table</a:t>
            </a:r>
            <a:endParaRPr lang="en-US" sz="1000" dirty="0"/>
          </a:p>
        </p:txBody>
      </p:sp>
      <p:sp>
        <p:nvSpPr>
          <p:cNvPr id="5" name="ms_numbers.R (list ms_num)"/>
          <p:cNvSpPr txBox="1"/>
          <p:nvPr/>
        </p:nvSpPr>
        <p:spPr>
          <a:xfrm>
            <a:off x="3749040" y="233172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ms_numbers.R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(list ms_num)</a:t>
            </a:r>
            <a:endParaRPr lang="en-US" sz="1100" dirty="0"/>
          </a:p>
        </p:txBody>
      </p:sp>
      <p:sp>
        <p:nvSpPr>
          <p:cNvPr id="6" name="inline `r ms_num$…` in ms.qmd"/>
          <p:cNvSpPr txBox="1"/>
          <p:nvPr/>
        </p:nvSpPr>
        <p:spPr>
          <a:xfrm>
            <a:off x="6675120" y="2331720"/>
            <a:ext cx="2194560" cy="640080"/>
          </a:xfrm>
          <a:prstGeom prst="roundRect">
            <a:avLst>
              <a:gd name="adj" fmla="val 8571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`r ms_num$…`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ms.qmd</a:t>
            </a:r>
            <a:endParaRPr lang="en-US" sz="1100" dirty="0"/>
          </a:p>
        </p:txBody>
      </p:sp>
      <p:sp>
        <p:nvSpPr>
          <p:cNvPr id="7" name="ms.pdf"/>
          <p:cNvSpPr txBox="1"/>
          <p:nvPr/>
        </p:nvSpPr>
        <p:spPr>
          <a:xfrm>
            <a:off x="9418320" y="2331720"/>
            <a:ext cx="2331720" cy="640080"/>
          </a:xfrm>
          <a:prstGeom prst="roundRect">
            <a:avLst>
              <a:gd name="adj" fmla="val 8571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ms.pdf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2651760"/>
            <a:ext cx="54864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126480" y="2651760"/>
            <a:ext cx="54864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869680" y="2651760"/>
            <a:ext cx="54864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1" name="built files in Liu2026_code_and_data"/>
          <p:cNvSpPr txBox="1"/>
          <p:nvPr/>
        </p:nvSpPr>
        <p:spPr>
          <a:xfrm>
            <a:off x="457200" y="4114800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files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Liu2026_code_and_data</a:t>
            </a:r>
            <a:endParaRPr lang="en-US" sz="1100" dirty="0"/>
          </a:p>
        </p:txBody>
      </p:sp>
      <p:sp>
        <p:nvSpPr>
          <p:cNvPr id="12" name="check_main_figures.R check_sup_figures.R"/>
          <p:cNvSpPr txBox="1"/>
          <p:nvPr/>
        </p:nvSpPr>
        <p:spPr>
          <a:xfrm>
            <a:off x="3749040" y="411480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check_main_figures.R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check_sup_figures.R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check_sup_tables.R</a:t>
            </a:r>
            <a:endParaRPr lang="en-US" sz="1000" dirty="0"/>
          </a:p>
        </p:txBody>
      </p:sp>
      <p:sp>
        <p:nvSpPr>
          <p:cNvPr id="13" name="*_manifest.tsv (paper repo)"/>
          <p:cNvSpPr txBox="1"/>
          <p:nvPr/>
        </p:nvSpPr>
        <p:spPr>
          <a:xfrm>
            <a:off x="3749040" y="51206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*_manifest.tsv (paper repo)</a:t>
            </a:r>
            <a:endParaRPr lang="en-US" sz="1000" dirty="0"/>
          </a:p>
        </p:txBody>
      </p:sp>
      <p:sp>
        <p:nvSpPr>
          <p:cNvPr id="14" name="warnings in ms.pdf when a copy is stale"/>
          <p:cNvSpPr txBox="1"/>
          <p:nvPr/>
        </p:nvSpPr>
        <p:spPr>
          <a:xfrm>
            <a:off x="9418320" y="4114800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in ms.pdf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copy is stale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4526280"/>
            <a:ext cx="54864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4937760" y="4937760"/>
            <a:ext cx="914" cy="182880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26480" y="4526280"/>
            <a:ext cx="3291840" cy="914"/>
          </a:xfrm>
          <a:prstGeom prst="line">
            <a:avLst/>
          </a:prstGeom>
          <a:noFill/>
          <a:ln w="15875">
            <a:solidFill>
              <a:srgbClr val="7A8A94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675120" y="50749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A54"/>
                </a:solidFill>
              </a:rPr>
              <a:t>Set LIU2026_CODE_REPO to read the tables from another checkout, for example the worktree built with the new assignments.</a:t>
            </a:r>
            <a:endParaRPr lang="en-US" sz="1200" dirty="0"/>
          </a:p>
        </p:txBody>
      </p:sp>
      <p:sp>
        <p:nvSpPr>
          <p:cNvPr id="19" name="legend script"/>
          <p:cNvSpPr txBox="1"/>
          <p:nvPr/>
        </p:nvSpPr>
        <p:spPr>
          <a:xfrm>
            <a:off x="45720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1F2A3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Script</a:t>
            </a:r>
            <a:endParaRPr lang="en-US" sz="1000" dirty="0"/>
          </a:p>
        </p:txBody>
      </p:sp>
      <p:sp>
        <p:nvSpPr>
          <p:cNvPr id="21" name="legend other"/>
          <p:cNvSpPr txBox="1"/>
          <p:nvPr/>
        </p:nvSpPr>
        <p:spPr>
          <a:xfrm>
            <a:off x="233172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C98A1B"/>
          </a:solidFill>
          <a:ln w="12700">
            <a:solidFill>
              <a:srgbClr val="C98A1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71576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Data, other folder</a:t>
            </a:r>
            <a:endParaRPr lang="en-US" sz="1000" dirty="0"/>
          </a:p>
        </p:txBody>
      </p:sp>
      <p:sp>
        <p:nvSpPr>
          <p:cNvPr id="23" name="legend output"/>
          <p:cNvSpPr txBox="1"/>
          <p:nvPr/>
        </p:nvSpPr>
        <p:spPr>
          <a:xfrm>
            <a:off x="4206240" y="6035040"/>
            <a:ext cx="320040" cy="201168"/>
          </a:xfrm>
          <a:prstGeom prst="roundRect">
            <a:avLst>
              <a:gd name="adj" fmla="val 27273"/>
            </a:avLst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90288" y="5998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30"/>
                </a:solidFill>
              </a:rPr>
              <a:t>Built output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u 2026 pipeline">
  <a:themeElements>
    <a:clrScheme name="Liu 2026 pipeline">
      <a:dk1>
        <a:srgbClr val="1F2A30"/>
      </a:dk1>
      <a:lt1>
        <a:srgbClr val="FFFFFF"/>
      </a:lt1>
      <a:dk2>
        <a:srgbClr val="3B4A54"/>
      </a:dk2>
      <a:lt2>
        <a:srgbClr val="EEF2F4"/>
      </a:lt2>
      <a:accent1>
        <a:srgbClr val="2E7D4F"/>
      </a:accent1>
      <a:accent2>
        <a:srgbClr val="C0392B"/>
      </a:accent2>
      <a:accent3>
        <a:srgbClr val="1F5F8B"/>
      </a:accent3>
      <a:accent4>
        <a:srgbClr val="C98A1B"/>
      </a:accent4>
      <a:accent5>
        <a:srgbClr val="7A8A94"/>
      </a:accent5>
      <a:accent6>
        <a:srgbClr val="D9E7DE"/>
      </a:accent6>
      <a:hlink>
        <a:srgbClr val="1F5F8B"/>
      </a:hlink>
      <a:folHlink>
        <a:srgbClr val="6D4C8B"/>
      </a:folHlink>
    </a:clrScheme>
    <a:fontScheme name="Liu 2026 pipel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Liu et al. 2026: data and analysis flow</dc:title>
  <dc:subject>PptxGenJS Presentation</dc:subject>
  <dc:creator>PptxGenJS</dc:creator>
  <cp:lastModifiedBy>PptxGenJS</cp:lastModifiedBy>
  <cp:revision>1</cp:revision>
  <dcterms:created xsi:type="dcterms:W3CDTF">2026-10-22T21:08:40Z</dcterms:created>
  <dcterms:modified xsi:type="dcterms:W3CDTF">2026-10-22T21:08:40Z</dcterms:modified>
</cp:coreProperties>
</file>